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6858000" cx="12192000"/>
  <p:notesSz cx="6858000" cy="9144000"/>
  <p:embeddedFontLst>
    <p:embeddedFont>
      <p:font typeface="Montserrat"/>
      <p:regular r:id="rId24"/>
      <p:bold r:id="rId25"/>
      <p:italic r:id="rId26"/>
      <p:boldItalic r:id="rId27"/>
    </p:embeddedFont>
    <p:embeddedFont>
      <p:font typeface="Lato"/>
      <p:regular r:id="rId28"/>
      <p:bold r:id="rId29"/>
      <p:italic r:id="rId30"/>
      <p:boldItalic r:id="rId31"/>
    </p:embeddedFont>
    <p:embeddedFont>
      <p:font typeface="Roboto Mono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6" roundtripDataSignature="AMtx7mhfi785xoBUXNK1kZe7jxXh02nT9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Montserrat-regular.fntdata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Montserrat-italic.fntdata"/><Relationship Id="rId25" Type="http://schemas.openxmlformats.org/officeDocument/2006/relationships/font" Target="fonts/Montserrat-bold.fntdata"/><Relationship Id="rId28" Type="http://schemas.openxmlformats.org/officeDocument/2006/relationships/font" Target="fonts/Lato-regular.fntdata"/><Relationship Id="rId27" Type="http://schemas.openxmlformats.org/officeDocument/2006/relationships/font" Target="fonts/Montserrat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Lato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Lato-boldItalic.fntdata"/><Relationship Id="rId30" Type="http://schemas.openxmlformats.org/officeDocument/2006/relationships/font" Target="fonts/Lato-italic.fntdata"/><Relationship Id="rId11" Type="http://schemas.openxmlformats.org/officeDocument/2006/relationships/slide" Target="slides/slide7.xml"/><Relationship Id="rId33" Type="http://schemas.openxmlformats.org/officeDocument/2006/relationships/font" Target="fonts/RobotoMono-bold.fntdata"/><Relationship Id="rId10" Type="http://schemas.openxmlformats.org/officeDocument/2006/relationships/slide" Target="slides/slide6.xml"/><Relationship Id="rId32" Type="http://schemas.openxmlformats.org/officeDocument/2006/relationships/font" Target="fonts/RobotoMono-regular.fntdata"/><Relationship Id="rId13" Type="http://schemas.openxmlformats.org/officeDocument/2006/relationships/slide" Target="slides/slide9.xml"/><Relationship Id="rId35" Type="http://schemas.openxmlformats.org/officeDocument/2006/relationships/font" Target="fonts/RobotoMono-boldItalic.fntdata"/><Relationship Id="rId12" Type="http://schemas.openxmlformats.org/officeDocument/2006/relationships/slide" Target="slides/slide8.xml"/><Relationship Id="rId34" Type="http://schemas.openxmlformats.org/officeDocument/2006/relationships/font" Target="fonts/RobotoMono-italic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36" Type="http://customschemas.google.com/relationships/presentationmetadata" Target="meta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796d2c528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g3f796d2c52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a27419067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fa2741906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1" name="Google Shape;171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a27419067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fa27419067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fa27419067_0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fa27419067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fa27419067_2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fa27419067_2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3" name="Google Shape;203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1" name="Google Shape;211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9" name="Google Shape;219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0" name="Google Shape;230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7" name="Google Shape;237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3" name="Google Shape;243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9" name="Google Shape;249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f796d2c528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g3f796d2c52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fa27419067_0_41"/>
          <p:cNvSpPr/>
          <p:nvPr/>
        </p:nvSpPr>
        <p:spPr>
          <a:xfrm rot="5400000">
            <a:off x="10000500" y="673"/>
            <a:ext cx="2191500" cy="21915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g3fa27419067_0_41"/>
          <p:cNvGrpSpPr/>
          <p:nvPr/>
        </p:nvGrpSpPr>
        <p:grpSpPr>
          <a:xfrm>
            <a:off x="0" y="654"/>
            <a:ext cx="6871435" cy="6845694"/>
            <a:chOff x="0" y="75"/>
            <a:chExt cx="5153705" cy="5152950"/>
          </a:xfrm>
        </p:grpSpPr>
        <p:sp>
          <p:nvSpPr>
            <p:cNvPr id="12" name="Google Shape;12;g3fa27419067_0_41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g3fa27419067_0_41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g3fa27419067_0_41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g3fa27419067_0_41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g3fa27419067_0_41"/>
          <p:cNvSpPr txBox="1"/>
          <p:nvPr>
            <p:ph type="ctrTitle"/>
          </p:nvPr>
        </p:nvSpPr>
        <p:spPr>
          <a:xfrm>
            <a:off x="4716200" y="2104533"/>
            <a:ext cx="6690000" cy="2105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/>
        </p:txBody>
      </p:sp>
      <p:sp>
        <p:nvSpPr>
          <p:cNvPr id="17" name="Google Shape;17;g3fa27419067_0_41"/>
          <p:cNvSpPr txBox="1"/>
          <p:nvPr>
            <p:ph idx="1" type="subTitle"/>
          </p:nvPr>
        </p:nvSpPr>
        <p:spPr>
          <a:xfrm>
            <a:off x="6778600" y="5233233"/>
            <a:ext cx="4627500" cy="67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18" name="Google Shape;18;g3fa27419067_0_4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g3fa27419067_0_51"/>
          <p:cNvGrpSpPr/>
          <p:nvPr/>
        </p:nvGrpSpPr>
        <p:grpSpPr>
          <a:xfrm>
            <a:off x="5875053" y="0"/>
            <a:ext cx="6316642" cy="6857248"/>
            <a:chOff x="4406400" y="0"/>
            <a:chExt cx="4737600" cy="5143065"/>
          </a:xfrm>
        </p:grpSpPr>
        <p:sp>
          <p:nvSpPr>
            <p:cNvPr id="21" name="Google Shape;21;g3fa27419067_0_5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g3fa27419067_0_5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g3fa27419067_0_5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g3fa27419067_0_5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g3fa27419067_0_5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g3fa27419067_0_5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g3fa27419067_0_5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g3fa27419067_0_5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g3fa27419067_0_5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g3fa27419067_0_5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g3fa27419067_0_5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g3fa27419067_0_5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g3fa27419067_0_5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g3fa27419067_0_5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g3fa27419067_0_5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g3fa27419067_0_5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g3fa27419067_0_5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g3fa27419067_0_5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g3fa27419067_0_51"/>
          <p:cNvSpPr txBox="1"/>
          <p:nvPr>
            <p:ph type="title"/>
          </p:nvPr>
        </p:nvSpPr>
        <p:spPr>
          <a:xfrm>
            <a:off x="1098467" y="2737333"/>
            <a:ext cx="6116100" cy="15315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0" name="Google Shape;40;g3fa27419067_0_5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g3fa27419067_0_73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43" name="Google Shape;43;g3fa27419067_0_73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g3fa27419067_0_73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g3fa27419067_0_73"/>
          <p:cNvSpPr txBox="1"/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46" name="Google Shape;46;g3fa27419067_0_73"/>
          <p:cNvSpPr txBox="1"/>
          <p:nvPr>
            <p:ph idx="1" type="body"/>
          </p:nvPr>
        </p:nvSpPr>
        <p:spPr>
          <a:xfrm>
            <a:off x="1730000" y="2090067"/>
            <a:ext cx="9385200" cy="388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47" name="Google Shape;47;g3fa27419067_0_7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g3fa27419067_0_80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50" name="Google Shape;50;g3fa27419067_0_80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g3fa27419067_0_80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g3fa27419067_0_80"/>
          <p:cNvSpPr txBox="1"/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53" name="Google Shape;53;g3fa27419067_0_80"/>
          <p:cNvSpPr txBox="1"/>
          <p:nvPr>
            <p:ph idx="1" type="body"/>
          </p:nvPr>
        </p:nvSpPr>
        <p:spPr>
          <a:xfrm>
            <a:off x="1730000" y="2090067"/>
            <a:ext cx="4537500" cy="388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54" name="Google Shape;54;g3fa27419067_0_80"/>
          <p:cNvSpPr txBox="1"/>
          <p:nvPr>
            <p:ph idx="2" type="body"/>
          </p:nvPr>
        </p:nvSpPr>
        <p:spPr>
          <a:xfrm>
            <a:off x="6577628" y="2090067"/>
            <a:ext cx="4537500" cy="388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55" name="Google Shape;55;g3fa27419067_0_8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g3fa27419067_0_88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58" name="Google Shape;58;g3fa27419067_0_88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g3fa27419067_0_88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g3fa27419067_0_88"/>
          <p:cNvSpPr txBox="1"/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61" name="Google Shape;61;g3fa27419067_0_8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g3fa27419067_0_94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64" name="Google Shape;64;g3fa27419067_0_9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g3fa27419067_0_9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g3fa27419067_0_94"/>
          <p:cNvSpPr txBox="1"/>
          <p:nvPr>
            <p:ph type="title"/>
          </p:nvPr>
        </p:nvSpPr>
        <p:spPr>
          <a:xfrm>
            <a:off x="1730000" y="525000"/>
            <a:ext cx="5065200" cy="1990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67" name="Google Shape;67;g3fa27419067_0_94"/>
          <p:cNvSpPr txBox="1"/>
          <p:nvPr>
            <p:ph idx="1" type="body"/>
          </p:nvPr>
        </p:nvSpPr>
        <p:spPr>
          <a:xfrm>
            <a:off x="1730000" y="2630067"/>
            <a:ext cx="5065200" cy="3221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68" name="Google Shape;68;g3fa27419067_0_9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g3fa27419067_0_101"/>
          <p:cNvGrpSpPr/>
          <p:nvPr/>
        </p:nvGrpSpPr>
        <p:grpSpPr>
          <a:xfrm>
            <a:off x="5875053" y="0"/>
            <a:ext cx="6316642" cy="6857829"/>
            <a:chOff x="4406400" y="0"/>
            <a:chExt cx="4737600" cy="5143500"/>
          </a:xfrm>
        </p:grpSpPr>
        <p:sp>
          <p:nvSpPr>
            <p:cNvPr id="71" name="Google Shape;71;g3fa27419067_0_101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g3fa27419067_0_101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g3fa27419067_0_101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g3fa27419067_0_101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g3fa27419067_0_101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g3fa27419067_0_101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g3fa27419067_0_101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g3fa27419067_0_101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g3fa27419067_0_101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g3fa27419067_0_101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g3fa27419067_0_101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g3fa27419067_0_101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g3fa27419067_0_101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g3fa27419067_0_101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g3fa27419067_0_101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g3fa27419067_0_101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g3fa27419067_0_101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g3fa27419067_0_101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g3fa27419067_0_101"/>
          <p:cNvSpPr txBox="1"/>
          <p:nvPr>
            <p:ph type="title"/>
          </p:nvPr>
        </p:nvSpPr>
        <p:spPr>
          <a:xfrm>
            <a:off x="1098467" y="1155700"/>
            <a:ext cx="6116100" cy="469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90" name="Google Shape;90;g3fa27419067_0_10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g3fa27419067_0_123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93" name="Google Shape;93;g3fa27419067_0_123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g3fa27419067_0_123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g3fa27419067_0_123"/>
          <p:cNvSpPr txBox="1"/>
          <p:nvPr>
            <p:ph type="title"/>
          </p:nvPr>
        </p:nvSpPr>
        <p:spPr>
          <a:xfrm>
            <a:off x="1730000" y="2211100"/>
            <a:ext cx="4048500" cy="2335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6" name="Google Shape;96;g3fa27419067_0_123"/>
          <p:cNvSpPr txBox="1"/>
          <p:nvPr>
            <p:ph idx="1" type="subTitle"/>
          </p:nvPr>
        </p:nvSpPr>
        <p:spPr>
          <a:xfrm>
            <a:off x="1730000" y="4717333"/>
            <a:ext cx="4048500" cy="67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97" name="Google Shape;97;g3fa27419067_0_123"/>
          <p:cNvSpPr txBox="1"/>
          <p:nvPr>
            <p:ph idx="2" type="body"/>
          </p:nvPr>
        </p:nvSpPr>
        <p:spPr>
          <a:xfrm>
            <a:off x="6197600" y="2262133"/>
            <a:ext cx="4902300" cy="3129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98" name="Google Shape;98;g3fa27419067_0_12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g3fa27419067_0_131"/>
          <p:cNvGrpSpPr/>
          <p:nvPr/>
        </p:nvGrpSpPr>
        <p:grpSpPr>
          <a:xfrm>
            <a:off x="0" y="5504636"/>
            <a:ext cx="931877" cy="912853"/>
            <a:chOff x="0" y="3785672"/>
            <a:chExt cx="698925" cy="684657"/>
          </a:xfrm>
        </p:grpSpPr>
        <p:sp>
          <p:nvSpPr>
            <p:cNvPr id="101" name="Google Shape;101;g3fa27419067_0_131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g3fa27419067_0_131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g3fa27419067_0_131"/>
          <p:cNvSpPr txBox="1"/>
          <p:nvPr>
            <p:ph idx="1" type="body"/>
          </p:nvPr>
        </p:nvSpPr>
        <p:spPr>
          <a:xfrm>
            <a:off x="1083633" y="5740500"/>
            <a:ext cx="9248100" cy="6984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/>
        </p:txBody>
      </p:sp>
      <p:sp>
        <p:nvSpPr>
          <p:cNvPr id="104" name="Google Shape;104;g3fa27419067_0_13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g3fa27419067_0_137"/>
          <p:cNvGrpSpPr/>
          <p:nvPr/>
        </p:nvGrpSpPr>
        <p:grpSpPr>
          <a:xfrm>
            <a:off x="5875053" y="0"/>
            <a:ext cx="6316642" cy="6857248"/>
            <a:chOff x="4406400" y="0"/>
            <a:chExt cx="4737600" cy="5143065"/>
          </a:xfrm>
        </p:grpSpPr>
        <p:sp>
          <p:nvSpPr>
            <p:cNvPr id="107" name="Google Shape;107;g3fa27419067_0_137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g3fa27419067_0_137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g3fa27419067_0_137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g3fa27419067_0_137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g3fa27419067_0_137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g3fa27419067_0_137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g3fa27419067_0_137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g3fa27419067_0_137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g3fa27419067_0_137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g3fa27419067_0_137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g3fa27419067_0_137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g3fa27419067_0_137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g3fa27419067_0_137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g3fa27419067_0_137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g3fa27419067_0_137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g3fa27419067_0_137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g3fa27419067_0_137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g3fa27419067_0_137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g3fa27419067_0_137"/>
          <p:cNvSpPr txBox="1"/>
          <p:nvPr>
            <p:ph hasCustomPrompt="1" type="title"/>
          </p:nvPr>
        </p:nvSpPr>
        <p:spPr>
          <a:xfrm>
            <a:off x="1098467" y="1712900"/>
            <a:ext cx="6368100" cy="17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1pPr>
            <a:lvl2pPr lvl="1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2pPr>
            <a:lvl3pPr lvl="2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3pPr>
            <a:lvl4pPr lvl="3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4pPr>
            <a:lvl5pPr lvl="4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5pPr>
            <a:lvl6pPr lvl="5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6pPr>
            <a:lvl7pPr lvl="6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7pPr>
            <a:lvl8pPr lvl="7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8pPr>
            <a:lvl9pPr lvl="8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9pPr>
          </a:lstStyle>
          <a:p>
            <a:r>
              <a:t>xx%</a:t>
            </a:r>
          </a:p>
        </p:txBody>
      </p:sp>
      <p:sp>
        <p:nvSpPr>
          <p:cNvPr id="126" name="Google Shape;126;g3fa27419067_0_137"/>
          <p:cNvSpPr txBox="1"/>
          <p:nvPr>
            <p:ph idx="1" type="body"/>
          </p:nvPr>
        </p:nvSpPr>
        <p:spPr>
          <a:xfrm>
            <a:off x="1098467" y="3524166"/>
            <a:ext cx="6368100" cy="1625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27" name="Google Shape;127;g3fa27419067_0_13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a27419067_0_16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fa27419067_0_37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g3fa27419067_0_37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ato"/>
              <a:buChar char="●"/>
              <a:defRPr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238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○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■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238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238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○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238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■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238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238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○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238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■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g3fa27419067_0_3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Relationship Id="rId4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Relationship Id="rId4" Type="http://schemas.openxmlformats.org/officeDocument/2006/relationships/image" Target="../media/image13.png"/><Relationship Id="rId5" Type="http://schemas.openxmlformats.org/officeDocument/2006/relationships/image" Target="../media/image8.png"/><Relationship Id="rId6" Type="http://schemas.openxmlformats.org/officeDocument/2006/relationships/image" Target="../media/image6.png"/><Relationship Id="rId7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"/>
          <p:cNvSpPr txBox="1"/>
          <p:nvPr>
            <p:ph type="ctrTitle"/>
          </p:nvPr>
        </p:nvSpPr>
        <p:spPr>
          <a:xfrm>
            <a:off x="1524000" y="1173479"/>
            <a:ext cx="9144000" cy="180308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s-CL"/>
              <a:t>Capstone</a:t>
            </a:r>
            <a:br>
              <a:rPr lang="es-CL"/>
            </a:br>
            <a:r>
              <a:rPr lang="es-CL" sz="3200"/>
              <a:t>“</a:t>
            </a:r>
            <a:r>
              <a:rPr i="1" lang="es-CL" sz="2200"/>
              <a:t>Plataforma de Vinculación de Prácticas para Estudiantes Duoc UC (“PracticasPro”)</a:t>
            </a:r>
            <a:r>
              <a:rPr lang="es-CL" sz="3200"/>
              <a:t>”</a:t>
            </a:r>
            <a:endParaRPr/>
          </a:p>
        </p:txBody>
      </p:sp>
      <p:sp>
        <p:nvSpPr>
          <p:cNvPr id="135" name="Google Shape;135;p1"/>
          <p:cNvSpPr txBox="1"/>
          <p:nvPr>
            <p:ph idx="1" type="subTitle"/>
          </p:nvPr>
        </p:nvSpPr>
        <p:spPr>
          <a:xfrm>
            <a:off x="1524000" y="3279654"/>
            <a:ext cx="9144000" cy="24048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CL" sz="3200"/>
              <a:t>Ingeniería Informática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Escuela de Informática y Telecomunicaciones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Sede [Puente Alto]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2026</a:t>
            </a:r>
            <a:endParaRPr sz="14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Docente Instructor de la Asignatura: Fabian Enrique Saldaño Perez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Integrantes del Equipo: Catalina Zarate, Tomas Pozo, Nicolas Pozo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796d2c528_0_0"/>
          <p:cNvSpPr txBox="1"/>
          <p:nvPr>
            <p:ph type="ctrTitle"/>
          </p:nvPr>
        </p:nvSpPr>
        <p:spPr>
          <a:xfrm>
            <a:off x="4716200" y="2104533"/>
            <a:ext cx="6690000" cy="210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s-CL"/>
              <a:t>TABLA DE CONTENIDOS</a:t>
            </a:r>
            <a:endParaRPr/>
          </a:p>
        </p:txBody>
      </p:sp>
      <p:sp>
        <p:nvSpPr>
          <p:cNvPr id="141" name="Google Shape;141;g3f796d2c528_0_0"/>
          <p:cNvSpPr txBox="1"/>
          <p:nvPr>
            <p:ph idx="1" type="subTitle"/>
          </p:nvPr>
        </p:nvSpPr>
        <p:spPr>
          <a:xfrm>
            <a:off x="6778600" y="5233233"/>
            <a:ext cx="4627500" cy="6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"/>
          <p:cNvSpPr txBox="1"/>
          <p:nvPr>
            <p:ph type="title"/>
          </p:nvPr>
        </p:nvSpPr>
        <p:spPr>
          <a:xfrm>
            <a:off x="725659" y="111071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Problemática a Resolver</a:t>
            </a:r>
            <a:endParaRPr/>
          </a:p>
        </p:txBody>
      </p:sp>
      <p:sp>
        <p:nvSpPr>
          <p:cNvPr id="147" name="Google Shape;147;p2"/>
          <p:cNvSpPr txBox="1"/>
          <p:nvPr/>
        </p:nvSpPr>
        <p:spPr>
          <a:xfrm>
            <a:off x="866250" y="2436275"/>
            <a:ext cx="9059100" cy="23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Actualmente, los estudiantes de Duoc UC enfrentan una notable asimetría y dispersión al buscar sus prácticas laborales o profesionales. Las plataformas de empleo tradicionales no responden a las necesidades académicas e institucionales específicas, carecen de filtros por carrera o sede, y provocan una pérdida de tiempo tanto en los alumnos como en las empresas, que reciben postulantes incompatibles. Ante la falta de una herramienta centralizada y geolocalizada que facilite la vinculación efectiva y permita ampliar el radio de búsqueda de manera estructurada, surge la necesidad de desarrollar una solución digital especializada para la comunidad de Duoc UC. 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"/>
          <p:cNvSpPr txBox="1"/>
          <p:nvPr/>
        </p:nvSpPr>
        <p:spPr>
          <a:xfrm>
            <a:off x="634450" y="2038125"/>
            <a:ext cx="4654800" cy="25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Solución</a:t>
            </a:r>
            <a:r>
              <a:rPr b="1"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s-CL">
                <a:solidFill>
                  <a:schemeClr val="lt1"/>
                </a:solidFill>
              </a:rPr>
              <a:t>Plataforma digital especializada (Web y Móvil) diseñada para conectar de manera directa y eficiente a estudiantes de Duoc UC que requieren realizar su práctica laboral o profesional con empresas que disponen de vacantes validadas.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lt1"/>
                </a:solidFill>
              </a:rPr>
              <a:t>Acceso exclusivo para la comunidad estudiantil mediante autenticación con correo institucional (</a:t>
            </a:r>
            <a:r>
              <a:rPr lang="es-CL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@duocuc.cl</a:t>
            </a:r>
            <a:r>
              <a:rPr lang="es-CL">
                <a:solidFill>
                  <a:schemeClr val="lt1"/>
                </a:solidFill>
              </a:rPr>
              <a:t>), garantizando perfiles académicos fidedignos y actualizados.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3"/>
          <p:cNvSpPr txBox="1"/>
          <p:nvPr/>
        </p:nvSpPr>
        <p:spPr>
          <a:xfrm>
            <a:off x="6253125" y="1086750"/>
            <a:ext cx="5368500" cy="41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Propuesta de valor</a:t>
            </a:r>
            <a:endParaRPr b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200">
                <a:solidFill>
                  <a:schemeClr val="lt1"/>
                </a:solidFill>
              </a:rPr>
              <a:t>Para el Estudiante:</a:t>
            </a:r>
            <a:endParaRPr b="1" sz="12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</a:rPr>
              <a:t>Búsqueda centralizada con filtros exactos por carrera, sede y tipo de práctica (Laboral vs. Profesional).</a:t>
            </a:r>
            <a:endParaRPr sz="12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</a:rPr>
              <a:t>Visualización interactiva georreferenciada en mapa.</a:t>
            </a:r>
            <a:endParaRPr sz="12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</a:rPr>
              <a:t>Modelo </a:t>
            </a:r>
            <a:r>
              <a:rPr i="1" lang="es-CL" sz="1200">
                <a:solidFill>
                  <a:schemeClr val="lt1"/>
                </a:solidFill>
              </a:rPr>
              <a:t>Freemium</a:t>
            </a:r>
            <a:r>
              <a:rPr lang="es-CL" sz="1200">
                <a:solidFill>
                  <a:schemeClr val="lt1"/>
                </a:solidFill>
              </a:rPr>
              <a:t>: Acceso gratuito a ofertas en su comuna de origen (ej. Puente Alto) y opción de </a:t>
            </a:r>
            <a:r>
              <a:rPr b="1" lang="es-CL" sz="1200">
                <a:solidFill>
                  <a:schemeClr val="lt1"/>
                </a:solidFill>
              </a:rPr>
              <a:t>Suscripción Premium mensual</a:t>
            </a:r>
            <a:r>
              <a:rPr lang="es-CL" sz="1200">
                <a:solidFill>
                  <a:schemeClr val="lt1"/>
                </a:solidFill>
              </a:rPr>
              <a:t> para ampliar el radio de búsqueda a toda la Región Metropolitana.</a:t>
            </a:r>
            <a:endParaRPr sz="12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</a:rPr>
              <a:t>Trazabilidad completa del estado de postulación y sistema de reputación/evaluación de empresas.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200">
                <a:solidFill>
                  <a:schemeClr val="lt1"/>
                </a:solidFill>
              </a:rPr>
              <a:t>Para la Empresa:</a:t>
            </a:r>
            <a:endParaRPr b="1" sz="12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</a:rPr>
              <a:t>Reducción drástica de postulaciones no compatibles mediante un motor de calce automático según requisitos técnicos y académicos.</a:t>
            </a:r>
            <a:endParaRPr sz="12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</a:rPr>
              <a:t>Canal directo de gestión de candidatos y retroalimentación post-práctica.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fa27419067_0_7"/>
          <p:cNvSpPr txBox="1"/>
          <p:nvPr/>
        </p:nvSpPr>
        <p:spPr>
          <a:xfrm>
            <a:off x="336450" y="1903950"/>
            <a:ext cx="4054800" cy="23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Objetivo General:</a:t>
            </a:r>
            <a:r>
              <a:rPr b="1" lang="es-CL" sz="1500">
                <a:solidFill>
                  <a:schemeClr val="lt1"/>
                </a:solidFill>
              </a:rPr>
              <a:t>Desarrollar</a:t>
            </a:r>
            <a:r>
              <a:rPr lang="es-CL" sz="1500">
                <a:solidFill>
                  <a:schemeClr val="lt1"/>
                </a:solidFill>
              </a:rPr>
              <a:t> una plataforma digital especializada que facilite la vinculación entre estudiantes de Duoc UC y empresas oferentes de prácticas laborales o profesionales, integrando herramientas de búsqueda geolocalizada, filtrado por pertinencia académica y un sistema de suscripción recurrente para ampliación de cobertura territorial. </a:t>
            </a:r>
            <a:endParaRPr b="1"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g3fa27419067_0_7"/>
          <p:cNvSpPr txBox="1"/>
          <p:nvPr/>
        </p:nvSpPr>
        <p:spPr>
          <a:xfrm>
            <a:off x="5911800" y="1903950"/>
            <a:ext cx="6020100" cy="42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Objetivos Especificos Clave:</a:t>
            </a:r>
            <a:endParaRPr b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500">
                <a:solidFill>
                  <a:schemeClr val="lt1"/>
                </a:solidFill>
              </a:rPr>
              <a:t>Diseñar</a:t>
            </a:r>
            <a:r>
              <a:rPr lang="es-CL" sz="1500">
                <a:solidFill>
                  <a:schemeClr val="lt1"/>
                </a:solidFill>
              </a:rPr>
              <a:t> e </a:t>
            </a:r>
            <a:r>
              <a:rPr b="1" lang="es-CL" sz="1500">
                <a:solidFill>
                  <a:schemeClr val="lt1"/>
                </a:solidFill>
              </a:rPr>
              <a:t>implementar</a:t>
            </a:r>
            <a:r>
              <a:rPr lang="es-CL" sz="1500">
                <a:solidFill>
                  <a:schemeClr val="lt1"/>
                </a:solidFill>
              </a:rPr>
              <a:t> un sistema de autenticación seguro basado en credenciales institucionales de Duoc UC.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500">
                <a:solidFill>
                  <a:schemeClr val="lt1"/>
                </a:solidFill>
              </a:rPr>
              <a:t>Construir</a:t>
            </a:r>
            <a:r>
              <a:rPr lang="es-CL" sz="1500">
                <a:solidFill>
                  <a:schemeClr val="lt1"/>
                </a:solidFill>
              </a:rPr>
              <a:t> perfiles académicos y empresariales diferenciados con gestión de ofertas y requerimientos específicos.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500">
                <a:solidFill>
                  <a:schemeClr val="lt1"/>
                </a:solidFill>
              </a:rPr>
              <a:t>Integrar</a:t>
            </a:r>
            <a:r>
              <a:rPr lang="es-CL" sz="1500">
                <a:solidFill>
                  <a:schemeClr val="lt1"/>
                </a:solidFill>
              </a:rPr>
              <a:t> servicios de geolocalización y mapas para la visualización territorial de vacantes según la comuna del alumno.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500">
                <a:solidFill>
                  <a:schemeClr val="lt1"/>
                </a:solidFill>
              </a:rPr>
              <a:t>Implementar</a:t>
            </a:r>
            <a:r>
              <a:rPr lang="es-CL" sz="1500">
                <a:solidFill>
                  <a:schemeClr val="lt1"/>
                </a:solidFill>
              </a:rPr>
              <a:t> una pasarela de pago con cobro recurrente automatizado (tokenización segura) para la gestión de suscripciones premium.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500">
                <a:solidFill>
                  <a:schemeClr val="lt1"/>
                </a:solidFill>
              </a:rPr>
              <a:t>Desarrollar</a:t>
            </a:r>
            <a:r>
              <a:rPr lang="es-CL" sz="1500">
                <a:solidFill>
                  <a:schemeClr val="lt1"/>
                </a:solidFill>
              </a:rPr>
              <a:t> un panel administrativo para la supervisión global de usuarios, publicaciones y métricas transaccionales.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g3fa27419067_0_7"/>
          <p:cNvSpPr txBox="1"/>
          <p:nvPr/>
        </p:nvSpPr>
        <p:spPr>
          <a:xfrm>
            <a:off x="3085950" y="952300"/>
            <a:ext cx="60201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QUE SE DESARROLLO COMO PROYECTO</a:t>
            </a:r>
            <a:endParaRPr b="1"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"/>
          <p:cNvSpPr txBox="1"/>
          <p:nvPr>
            <p:ph type="title"/>
          </p:nvPr>
        </p:nvSpPr>
        <p:spPr>
          <a:xfrm>
            <a:off x="810065" y="80944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Alcances (bien detallado, no dejar ningun detalle fuera de la explicacion)</a:t>
            </a:r>
            <a:endParaRPr/>
          </a:p>
        </p:txBody>
      </p:sp>
      <p:sp>
        <p:nvSpPr>
          <p:cNvPr id="166" name="Google Shape;166;p4"/>
          <p:cNvSpPr txBox="1"/>
          <p:nvPr/>
        </p:nvSpPr>
        <p:spPr>
          <a:xfrm>
            <a:off x="491575" y="2311800"/>
            <a:ext cx="3144600" cy="22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Que hace el sistema:</a:t>
            </a:r>
            <a:endParaRPr b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100">
                <a:solidFill>
                  <a:schemeClr val="lt1"/>
                </a:solidFill>
              </a:rPr>
              <a:t>Autenticación y Perfilamiento</a:t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100">
                <a:solidFill>
                  <a:schemeClr val="lt1"/>
                </a:solidFill>
              </a:rPr>
              <a:t>Búsqueda Inteligente y Geolocalización</a:t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100">
                <a:solidFill>
                  <a:schemeClr val="lt1"/>
                </a:solidFill>
              </a:rPr>
              <a:t>Modelo Freemium y Suscripción Premium</a:t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100">
                <a:solidFill>
                  <a:schemeClr val="lt1"/>
                </a:solidFill>
              </a:rPr>
              <a:t>Trazabilidad y Reputación</a:t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100">
                <a:solidFill>
                  <a:schemeClr val="lt1"/>
                </a:solidFill>
              </a:rPr>
              <a:t>Panel Administrativo</a:t>
            </a:r>
            <a:endParaRPr b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 txBox="1"/>
          <p:nvPr/>
        </p:nvSpPr>
        <p:spPr>
          <a:xfrm>
            <a:off x="4049875" y="2203900"/>
            <a:ext cx="3506700" cy="27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Que no hace:</a:t>
            </a:r>
            <a:endParaRPr b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100">
                <a:solidFill>
                  <a:schemeClr val="lt1"/>
                </a:solidFill>
              </a:rPr>
              <a:t>No tramita convenios legales ni seguros institucionales</a:t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100">
                <a:solidFill>
                  <a:schemeClr val="lt1"/>
                </a:solidFill>
              </a:rPr>
              <a:t>No almacena datos bancarios ni de tarjetas</a:t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100">
                <a:solidFill>
                  <a:schemeClr val="lt1"/>
                </a:solidFill>
              </a:rPr>
              <a:t>No evalúa ni califica el desempeño académico curricular</a:t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100">
                <a:solidFill>
                  <a:schemeClr val="lt1"/>
                </a:solidFill>
              </a:rPr>
              <a:t>No garantiza contratación ni cupo o</a:t>
            </a:r>
            <a:r>
              <a:rPr b="1" lang="es-CL" sz="1100">
                <a:solidFill>
                  <a:schemeClr val="lt1"/>
                </a:solidFill>
              </a:rPr>
              <a:t>bligatorio</a:t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100">
                <a:solidFill>
                  <a:schemeClr val="lt1"/>
                </a:solidFill>
              </a:rPr>
              <a:t>No opera fuera de la Región Metropolitana</a:t>
            </a:r>
            <a:endParaRPr b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 txBox="1"/>
          <p:nvPr/>
        </p:nvSpPr>
        <p:spPr>
          <a:xfrm>
            <a:off x="7970275" y="2203900"/>
            <a:ext cx="3568500" cy="22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Otros alcances o Restricciones:</a:t>
            </a:r>
            <a:endParaRPr b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100">
                <a:solidFill>
                  <a:schemeClr val="lt1"/>
                </a:solidFill>
              </a:rPr>
              <a:t>Restricción de Acceso y Comunidad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100">
                <a:solidFill>
                  <a:schemeClr val="lt1"/>
                </a:solidFill>
              </a:rPr>
              <a:t>Restricción Geográfica Operativa</a:t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100">
                <a:solidFill>
                  <a:schemeClr val="lt1"/>
                </a:solidFill>
              </a:rPr>
              <a:t>Dependencia de Integraciones de Terceros</a:t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100">
                <a:solidFill>
                  <a:schemeClr val="lt1"/>
                </a:solidFill>
              </a:rPr>
              <a:t>Compatibilidad de Plataforma</a:t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100">
                <a:solidFill>
                  <a:schemeClr val="lt1"/>
                </a:solidFill>
              </a:rPr>
              <a:t>Normativa de Privacidad de Datos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"/>
          <p:cNvSpPr txBox="1"/>
          <p:nvPr>
            <p:ph type="title"/>
          </p:nvPr>
        </p:nvSpPr>
        <p:spPr>
          <a:xfrm>
            <a:off x="506136" y="749643"/>
            <a:ext cx="10515600" cy="7591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Lista de Requerimientos </a:t>
            </a:r>
            <a:endParaRPr/>
          </a:p>
        </p:txBody>
      </p:sp>
      <p:sp>
        <p:nvSpPr>
          <p:cNvPr id="174" name="Google Shape;174;p5"/>
          <p:cNvSpPr txBox="1"/>
          <p:nvPr/>
        </p:nvSpPr>
        <p:spPr>
          <a:xfrm>
            <a:off x="357173" y="1620884"/>
            <a:ext cx="37857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Lista de Requerimientos Funcionales </a:t>
            </a:r>
            <a:endParaRPr b="1"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5" name="Google Shape;175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000" y="2087509"/>
            <a:ext cx="8239125" cy="385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g3fa27419067_0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6750" y="1238475"/>
            <a:ext cx="10892325" cy="357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a27419067_0_27"/>
          <p:cNvSpPr txBox="1"/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Listado de requerimientos no funcionales</a:t>
            </a:r>
            <a:endParaRPr/>
          </a:p>
        </p:txBody>
      </p:sp>
      <p:pic>
        <p:nvPicPr>
          <p:cNvPr id="186" name="Google Shape;186;g3fa27419067_0_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563" y="1770825"/>
            <a:ext cx="11000876" cy="256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"/>
          <p:cNvSpPr txBox="1"/>
          <p:nvPr>
            <p:ph type="title"/>
          </p:nvPr>
        </p:nvSpPr>
        <p:spPr>
          <a:xfrm>
            <a:off x="1323952" y="168611"/>
            <a:ext cx="10515600" cy="7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Diseño del Sistema</a:t>
            </a:r>
            <a:endParaRPr/>
          </a:p>
        </p:txBody>
      </p:sp>
      <p:sp>
        <p:nvSpPr>
          <p:cNvPr id="192" name="Google Shape;192;p6"/>
          <p:cNvSpPr txBox="1"/>
          <p:nvPr/>
        </p:nvSpPr>
        <p:spPr>
          <a:xfrm>
            <a:off x="1820451" y="898509"/>
            <a:ext cx="2891400" cy="7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Modelo Datos Relacional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 txBox="1"/>
          <p:nvPr/>
        </p:nvSpPr>
        <p:spPr>
          <a:xfrm>
            <a:off x="139900" y="1500525"/>
            <a:ext cx="4727100" cy="26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300">
                <a:solidFill>
                  <a:schemeClr val="lt1"/>
                </a:solidFill>
              </a:rPr>
              <a:t>1. USUARIO</a:t>
            </a:r>
            <a:endParaRPr b="1"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chemeClr val="lt1"/>
                </a:solidFill>
              </a:rPr>
              <a:t>Almacena las credenciales de acceso y centraliza los tipos de roles de la plataforma.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-CL" sz="1100">
                <a:solidFill>
                  <a:schemeClr val="lt1"/>
                </a:solidFill>
              </a:rPr>
              <a:t>id_usuario</a:t>
            </a:r>
            <a:r>
              <a:rPr lang="es-CL" sz="1100">
                <a:solidFill>
                  <a:schemeClr val="lt1"/>
                </a:solidFill>
              </a:rPr>
              <a:t> (PK, INT / UUID): Identificador único del usuario.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-CL" sz="1100">
                <a:solidFill>
                  <a:schemeClr val="lt1"/>
                </a:solidFill>
              </a:rPr>
              <a:t>email</a:t>
            </a:r>
            <a:r>
              <a:rPr lang="es-CL" sz="1100">
                <a:solidFill>
                  <a:schemeClr val="lt1"/>
                </a:solidFill>
              </a:rPr>
              <a:t> (VARCHAR, UNIQUE): Correo institucional (@duocuc.cl) o correo corporativo de empresa.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-CL" sz="1100">
                <a:solidFill>
                  <a:schemeClr val="lt1"/>
                </a:solidFill>
              </a:rPr>
              <a:t>password_hash</a:t>
            </a:r>
            <a:r>
              <a:rPr lang="es-CL" sz="1100">
                <a:solidFill>
                  <a:schemeClr val="lt1"/>
                </a:solidFill>
              </a:rPr>
              <a:t> (VARCHAR): Hash seguro de la contraseña (bcrypt/Argon2).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-CL" sz="1100">
                <a:solidFill>
                  <a:schemeClr val="lt1"/>
                </a:solidFill>
              </a:rPr>
              <a:t>rol</a:t>
            </a:r>
            <a:r>
              <a:rPr lang="es-CL" sz="1100">
                <a:solidFill>
                  <a:schemeClr val="lt1"/>
                </a:solidFill>
              </a:rPr>
              <a:t> (VARCHAR): Tipo de rol (ESTUDIANTE, EMPRESA, ADMIN).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-CL" sz="1100">
                <a:solidFill>
                  <a:schemeClr val="lt1"/>
                </a:solidFill>
              </a:rPr>
              <a:t>fecha_registro</a:t>
            </a:r>
            <a:r>
              <a:rPr lang="es-CL" sz="1100">
                <a:solidFill>
                  <a:schemeClr val="lt1"/>
                </a:solidFill>
              </a:rPr>
              <a:t> (TIMESTAMP): Fecha y hora de creación de la cuenta.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-CL" sz="1100">
                <a:solidFill>
                  <a:schemeClr val="lt1"/>
                </a:solidFill>
              </a:rPr>
              <a:t>activo</a:t>
            </a:r>
            <a:r>
              <a:rPr lang="es-CL" sz="1100">
                <a:solidFill>
                  <a:schemeClr val="lt1"/>
                </a:solidFill>
              </a:rPr>
              <a:t> (BOOLEAN): Estado de habilitación de la cuenta.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4" name="Google Shape;194;p6"/>
          <p:cNvSpPr txBox="1"/>
          <p:nvPr/>
        </p:nvSpPr>
        <p:spPr>
          <a:xfrm>
            <a:off x="5798000" y="1614300"/>
            <a:ext cx="5451300" cy="21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300">
                <a:solidFill>
                  <a:schemeClr val="lt1"/>
                </a:solidFill>
              </a:rPr>
              <a:t>2. ESTUDIANTE</a:t>
            </a:r>
            <a:endParaRPr b="1"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chemeClr val="lt1"/>
                </a:solidFill>
              </a:rPr>
              <a:t>Datos de perfil académico, ubicación base y estado curricular del alumno de Duoc UC.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-CL" sz="1100">
                <a:solidFill>
                  <a:schemeClr val="lt1"/>
                </a:solidFill>
              </a:rPr>
              <a:t>id_estudiante</a:t>
            </a:r>
            <a:r>
              <a:rPr lang="es-CL" sz="1100">
                <a:solidFill>
                  <a:schemeClr val="lt1"/>
                </a:solidFill>
              </a:rPr>
              <a:t> (PK, INT / UUID): Identificador único del estudiante.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-CL" sz="1100">
                <a:solidFill>
                  <a:schemeClr val="lt1"/>
                </a:solidFill>
              </a:rPr>
              <a:t>id_usuario</a:t>
            </a:r>
            <a:r>
              <a:rPr lang="es-CL" sz="1100">
                <a:solidFill>
                  <a:schemeClr val="lt1"/>
                </a:solidFill>
              </a:rPr>
              <a:t> (FK → USUARIO.id_usuario): Vínculo con la cuenta base.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-CL" sz="1100">
                <a:solidFill>
                  <a:schemeClr val="lt1"/>
                </a:solidFill>
              </a:rPr>
              <a:t>nombres</a:t>
            </a:r>
            <a:r>
              <a:rPr lang="es-CL" sz="1100">
                <a:solidFill>
                  <a:schemeClr val="lt1"/>
                </a:solidFill>
              </a:rPr>
              <a:t> (VARCHAR): Nombre(s) del alumno.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-CL" sz="1100">
                <a:solidFill>
                  <a:schemeClr val="lt1"/>
                </a:solidFill>
              </a:rPr>
              <a:t>apellidos</a:t>
            </a:r>
            <a:r>
              <a:rPr lang="es-CL" sz="1100">
                <a:solidFill>
                  <a:schemeClr val="lt1"/>
                </a:solidFill>
              </a:rPr>
              <a:t> (VARCHAR): Apellidos del alumno.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-CL" sz="1100">
                <a:solidFill>
                  <a:schemeClr val="lt1"/>
                </a:solidFill>
              </a:rPr>
              <a:t>carrera</a:t>
            </a:r>
            <a:r>
              <a:rPr lang="es-CL" sz="1100">
                <a:solidFill>
                  <a:schemeClr val="lt1"/>
                </a:solidFill>
              </a:rPr>
              <a:t> (VARCHAR): Carrera cursada (ej. </a:t>
            </a:r>
            <a:r>
              <a:rPr i="1" lang="es-CL" sz="1100">
                <a:solidFill>
                  <a:schemeClr val="lt1"/>
                </a:solidFill>
              </a:rPr>
              <a:t>Ingeniería en Informática</a:t>
            </a:r>
            <a:r>
              <a:rPr lang="es-CL" sz="1100">
                <a:solidFill>
                  <a:schemeClr val="lt1"/>
                </a:solidFill>
              </a:rPr>
              <a:t>).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-CL" sz="1100">
                <a:solidFill>
                  <a:schemeClr val="lt1"/>
                </a:solidFill>
              </a:rPr>
              <a:t>sede</a:t>
            </a:r>
            <a:r>
              <a:rPr lang="es-CL" sz="1100">
                <a:solidFill>
                  <a:schemeClr val="lt1"/>
                </a:solidFill>
              </a:rPr>
              <a:t> (VARCHAR): Sede institucional de origen (ej. </a:t>
            </a:r>
            <a:r>
              <a:rPr i="1" lang="es-CL" sz="1100">
                <a:solidFill>
                  <a:schemeClr val="lt1"/>
                </a:solidFill>
              </a:rPr>
              <a:t>Puente Alto</a:t>
            </a:r>
            <a:r>
              <a:rPr lang="es-CL" sz="1100">
                <a:solidFill>
                  <a:schemeClr val="lt1"/>
                </a:solidFill>
              </a:rPr>
              <a:t>).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-CL" sz="1100">
                <a:solidFill>
                  <a:schemeClr val="lt1"/>
                </a:solidFill>
              </a:rPr>
              <a:t>etapa_academica</a:t>
            </a:r>
            <a:r>
              <a:rPr lang="es-CL" sz="1100">
                <a:solidFill>
                  <a:schemeClr val="lt1"/>
                </a:solidFill>
              </a:rPr>
              <a:t> (VARCHAR): Año o semestre académico en curso.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-CL" sz="1100">
                <a:solidFill>
                  <a:schemeClr val="lt1"/>
                </a:solidFill>
              </a:rPr>
              <a:t>tipo_practica_pendiente</a:t>
            </a:r>
            <a:r>
              <a:rPr lang="es-CL" sz="1100">
                <a:solidFill>
                  <a:schemeClr val="lt1"/>
                </a:solidFill>
              </a:rPr>
              <a:t> (VARCHAR): LABORAL o PROFESIONAL.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-CL" sz="1100">
                <a:solidFill>
                  <a:schemeClr val="lt1"/>
                </a:solidFill>
              </a:rPr>
              <a:t>comuna_origen</a:t>
            </a:r>
            <a:r>
              <a:rPr lang="es-CL" sz="1100">
                <a:solidFill>
                  <a:schemeClr val="lt1"/>
                </a:solidFill>
              </a:rPr>
              <a:t> (VARCHAR): Comuna asignada para el radio de búsqueda gratuito inicial (ej. </a:t>
            </a:r>
            <a:r>
              <a:rPr i="1" lang="es-CL" sz="1100">
                <a:solidFill>
                  <a:schemeClr val="lt1"/>
                </a:solidFill>
              </a:rPr>
              <a:t>Puente Alto</a:t>
            </a:r>
            <a:r>
              <a:rPr lang="es-CL" sz="1100">
                <a:solidFill>
                  <a:schemeClr val="lt1"/>
                </a:solidFill>
              </a:rPr>
              <a:t>).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-CL" sz="1100">
                <a:solidFill>
                  <a:schemeClr val="lt1"/>
                </a:solidFill>
              </a:rPr>
              <a:t>descripcion_perfil</a:t>
            </a:r>
            <a:r>
              <a:rPr lang="es-CL" sz="1100">
                <a:solidFill>
                  <a:schemeClr val="lt1"/>
                </a:solidFill>
              </a:rPr>
              <a:t> (TEXT): Resumen profesional o biografía breve.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-CL" sz="1100">
                <a:solidFill>
                  <a:schemeClr val="lt1"/>
                </a:solidFill>
              </a:rPr>
              <a:t>url_cv</a:t>
            </a:r>
            <a:r>
              <a:rPr lang="es-CL" sz="1100">
                <a:solidFill>
                  <a:schemeClr val="lt1"/>
                </a:solidFill>
              </a:rPr>
              <a:t> (VARCHAR): Enlace al currículum en PDF u objeto de almacenamiento.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fa27419067_2_16"/>
          <p:cNvSpPr txBox="1"/>
          <p:nvPr/>
        </p:nvSpPr>
        <p:spPr>
          <a:xfrm>
            <a:off x="853625" y="1852200"/>
            <a:ext cx="4654800" cy="30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300">
                <a:solidFill>
                  <a:schemeClr val="lt1"/>
                </a:solidFill>
              </a:rPr>
              <a:t>3. EMPRESA</a:t>
            </a:r>
            <a:endParaRPr b="1"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chemeClr val="lt1"/>
                </a:solidFill>
              </a:rPr>
              <a:t>Datos de las organizaciones que publican vacantes de práctica.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-CL" sz="1100">
                <a:solidFill>
                  <a:schemeClr val="lt1"/>
                </a:solidFill>
              </a:rPr>
              <a:t>id_empresa</a:t>
            </a:r>
            <a:r>
              <a:rPr lang="es-CL" sz="1100">
                <a:solidFill>
                  <a:schemeClr val="lt1"/>
                </a:solidFill>
              </a:rPr>
              <a:t> (PK, INT / UUID): Identificador único de la empresa.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-CL" sz="1100">
                <a:solidFill>
                  <a:schemeClr val="lt1"/>
                </a:solidFill>
              </a:rPr>
              <a:t>id_usuario</a:t>
            </a:r>
            <a:r>
              <a:rPr lang="es-CL" sz="1100">
                <a:solidFill>
                  <a:schemeClr val="lt1"/>
                </a:solidFill>
              </a:rPr>
              <a:t> (FK → USUARIO.id_usuario): Vínculo con el usuario de reclutamiento.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-CL" sz="1100">
                <a:solidFill>
                  <a:schemeClr val="lt1"/>
                </a:solidFill>
              </a:rPr>
              <a:t>rut_empresa</a:t>
            </a:r>
            <a:r>
              <a:rPr lang="es-CL" sz="1100">
                <a:solidFill>
                  <a:schemeClr val="lt1"/>
                </a:solidFill>
              </a:rPr>
              <a:t> (VARCHAR, UNIQUE): Identificador tributario de la empresa.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-CL" sz="1100">
                <a:solidFill>
                  <a:schemeClr val="lt1"/>
                </a:solidFill>
              </a:rPr>
              <a:t>razon_social</a:t>
            </a:r>
            <a:r>
              <a:rPr lang="es-CL" sz="1100">
                <a:solidFill>
                  <a:schemeClr val="lt1"/>
                </a:solidFill>
              </a:rPr>
              <a:t> (VARCHAR): Nombre legal o comercial.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-CL" sz="1100">
                <a:solidFill>
                  <a:schemeClr val="lt1"/>
                </a:solidFill>
              </a:rPr>
              <a:t>rubro</a:t>
            </a:r>
            <a:r>
              <a:rPr lang="es-CL" sz="1100">
                <a:solidFill>
                  <a:schemeClr val="lt1"/>
                </a:solidFill>
              </a:rPr>
              <a:t> (VARCHAR): Área o sector industrial (ej. Tecnología, Logística, Retail).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-CL" sz="1100">
                <a:solidFill>
                  <a:schemeClr val="lt1"/>
                </a:solidFill>
              </a:rPr>
              <a:t>direccion</a:t>
            </a:r>
            <a:r>
              <a:rPr lang="es-CL" sz="1100">
                <a:solidFill>
                  <a:schemeClr val="lt1"/>
                </a:solidFill>
              </a:rPr>
              <a:t> (VARCHAR): Dirección corporativa de la sede u oficina.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-CL" sz="1100">
                <a:solidFill>
                  <a:schemeClr val="lt1"/>
                </a:solidFill>
              </a:rPr>
              <a:t>telefono_contacto</a:t>
            </a:r>
            <a:r>
              <a:rPr lang="es-CL" sz="1100">
                <a:solidFill>
                  <a:schemeClr val="lt1"/>
                </a:solidFill>
              </a:rPr>
              <a:t> (VARCHAR): Teléfono de RRHH.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0" name="Google Shape;200;g3fa27419067_2_16"/>
          <p:cNvSpPr txBox="1"/>
          <p:nvPr/>
        </p:nvSpPr>
        <p:spPr>
          <a:xfrm>
            <a:off x="6118675" y="1159175"/>
            <a:ext cx="5016900" cy="28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300"/>
              <a:t>4. </a:t>
            </a:r>
            <a:r>
              <a:rPr b="1" lang="es-CL" sz="1300">
                <a:solidFill>
                  <a:srgbClr val="188038"/>
                </a:solidFill>
              </a:rPr>
              <a:t>OFERTA_PRACTICA</a:t>
            </a:r>
            <a:endParaRPr b="1" sz="1300">
              <a:solidFill>
                <a:srgbClr val="18803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s-CL" sz="1100"/>
              <a:t>Publicaciones de cupos disponibles con sus condiciones académicas y geográficas.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s-CL" sz="1100">
                <a:solidFill>
                  <a:srgbClr val="188038"/>
                </a:solidFill>
              </a:rPr>
              <a:t>id_oferta</a:t>
            </a:r>
            <a:r>
              <a:rPr lang="es-CL" sz="1100"/>
              <a:t> (PK, INT / UUID): Identificador único de la publicación.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s-CL" sz="1100">
                <a:solidFill>
                  <a:srgbClr val="188038"/>
                </a:solidFill>
              </a:rPr>
              <a:t>id_empresa</a:t>
            </a:r>
            <a:r>
              <a:rPr lang="es-CL" sz="1100"/>
              <a:t> (FK → </a:t>
            </a:r>
            <a:r>
              <a:rPr lang="es-CL" sz="1100">
                <a:solidFill>
                  <a:srgbClr val="188038"/>
                </a:solidFill>
              </a:rPr>
              <a:t>EMPRESA.id_empresa</a:t>
            </a:r>
            <a:r>
              <a:rPr lang="es-CL" sz="1100"/>
              <a:t>): Empresa responsable de la oferta.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s-CL" sz="1100">
                <a:solidFill>
                  <a:srgbClr val="188038"/>
                </a:solidFill>
              </a:rPr>
              <a:t>titulo_oferta</a:t>
            </a:r>
            <a:r>
              <a:rPr lang="es-CL" sz="1100"/>
              <a:t> (VARCHAR): Título del puesto (ej. </a:t>
            </a:r>
            <a:r>
              <a:rPr i="1" lang="es-CL" sz="1100"/>
              <a:t>Práctica Profesional Desarrollo Web</a:t>
            </a:r>
            <a:r>
              <a:rPr lang="es-CL" sz="1100"/>
              <a:t>).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s-CL" sz="1100">
                <a:solidFill>
                  <a:srgbClr val="188038"/>
                </a:solidFill>
              </a:rPr>
              <a:t>descripcion</a:t>
            </a:r>
            <a:r>
              <a:rPr lang="es-CL" sz="1100"/>
              <a:t> (TEXT): Alcance de tareas y objetivos formativos del puesto.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s-CL" sz="1100">
                <a:solidFill>
                  <a:srgbClr val="188038"/>
                </a:solidFill>
              </a:rPr>
              <a:t>tipo_practica</a:t>
            </a:r>
            <a:r>
              <a:rPr lang="es-CL" sz="1100"/>
              <a:t> (VARCHAR): Requisito de práctica (</a:t>
            </a:r>
            <a:r>
              <a:rPr lang="es-CL" sz="1100">
                <a:solidFill>
                  <a:srgbClr val="188038"/>
                </a:solidFill>
              </a:rPr>
              <a:t>LABORAL</a:t>
            </a:r>
            <a:r>
              <a:rPr lang="es-CL" sz="1100"/>
              <a:t> o </a:t>
            </a:r>
            <a:r>
              <a:rPr lang="es-CL" sz="1100">
                <a:solidFill>
                  <a:srgbClr val="188038"/>
                </a:solidFill>
              </a:rPr>
              <a:t>PROFESIONAL</a:t>
            </a:r>
            <a:r>
              <a:rPr lang="es-CL" sz="1100"/>
              <a:t>).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s-CL" sz="1100">
                <a:solidFill>
                  <a:srgbClr val="188038"/>
                </a:solidFill>
              </a:rPr>
              <a:t>carrera_requerida</a:t>
            </a:r>
            <a:r>
              <a:rPr lang="es-CL" sz="1100"/>
              <a:t> (VARCHAR): Carrera afín solicitada (ej. </a:t>
            </a:r>
            <a:r>
              <a:rPr i="1" lang="es-CL" sz="1100"/>
              <a:t>Ingeniería en Informática</a:t>
            </a:r>
            <a:r>
              <a:rPr lang="es-CL" sz="1100"/>
              <a:t>).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s-CL" sz="1100">
                <a:solidFill>
                  <a:srgbClr val="188038"/>
                </a:solidFill>
              </a:rPr>
              <a:t>comuna</a:t>
            </a:r>
            <a:r>
              <a:rPr lang="es-CL" sz="1100"/>
              <a:t> (VARCHAR): Comuna donde se realiza la práctica presencial o híbrida.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s-CL" sz="1100">
                <a:solidFill>
                  <a:srgbClr val="188038"/>
                </a:solidFill>
              </a:rPr>
              <a:t>latitud</a:t>
            </a:r>
            <a:r>
              <a:rPr lang="es-CL" sz="1100"/>
              <a:t> (DECIMAL(10,8)): Coordenada para visualización en el mapa interactivo.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s-CL" sz="1100">
                <a:solidFill>
                  <a:srgbClr val="188038"/>
                </a:solidFill>
              </a:rPr>
              <a:t>longitud</a:t>
            </a:r>
            <a:r>
              <a:rPr lang="es-CL" sz="1100"/>
              <a:t> (DECIMAL(11,8)): Coordenada para visualización en el mapa interactivo.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s-CL" sz="1100">
                <a:solidFill>
                  <a:srgbClr val="188038"/>
                </a:solidFill>
              </a:rPr>
              <a:t>cupos_disponibles</a:t>
            </a:r>
            <a:r>
              <a:rPr lang="es-CL" sz="1100"/>
              <a:t> (INT): Cantidad total de vacantes abiertas.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s-CL" sz="1100">
                <a:solidFill>
                  <a:srgbClr val="188038"/>
                </a:solidFill>
              </a:rPr>
              <a:t>estado_oferta</a:t>
            </a:r>
            <a:r>
              <a:rPr lang="es-CL" sz="1100"/>
              <a:t> (VARCHAR): </a:t>
            </a:r>
            <a:r>
              <a:rPr lang="es-CL" sz="1100">
                <a:solidFill>
                  <a:srgbClr val="188038"/>
                </a:solidFill>
              </a:rPr>
              <a:t>DISPONIBLE</a:t>
            </a:r>
            <a:r>
              <a:rPr lang="es-CL" sz="1100"/>
              <a:t>, </a:t>
            </a:r>
            <a:r>
              <a:rPr lang="es-CL" sz="1100">
                <a:solidFill>
                  <a:srgbClr val="188038"/>
                </a:solidFill>
              </a:rPr>
              <a:t>CERRADA</a:t>
            </a:r>
            <a:r>
              <a:rPr lang="es-CL" sz="1100"/>
              <a:t>, </a:t>
            </a:r>
            <a:r>
              <a:rPr lang="es-CL" sz="1100">
                <a:solidFill>
                  <a:srgbClr val="188038"/>
                </a:solidFill>
              </a:rPr>
              <a:t>EN_PROCESO</a:t>
            </a:r>
            <a:r>
              <a:rPr lang="es-CL" sz="1100"/>
              <a:t>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s-CL" sz="1100">
                <a:solidFill>
                  <a:srgbClr val="188038"/>
                </a:solidFill>
              </a:rPr>
              <a:t>fecha_publicacion</a:t>
            </a:r>
            <a:r>
              <a:rPr lang="es-CL" sz="1100"/>
              <a:t> (TIMESTAMP): Fecha en que se habilitó la oferta.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7"/>
          <p:cNvSpPr txBox="1"/>
          <p:nvPr>
            <p:ph type="title"/>
          </p:nvPr>
        </p:nvSpPr>
        <p:spPr>
          <a:xfrm>
            <a:off x="641252" y="951625"/>
            <a:ext cx="10515600" cy="922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Diseño del Sistema</a:t>
            </a:r>
            <a:endParaRPr/>
          </a:p>
        </p:txBody>
      </p:sp>
      <p:pic>
        <p:nvPicPr>
          <p:cNvPr id="206" name="Google Shape;20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26921"/>
            <a:ext cx="4276725" cy="320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81525" y="2026921"/>
            <a:ext cx="4133850" cy="327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867775" y="2026921"/>
            <a:ext cx="3171825" cy="37852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8"/>
          <p:cNvSpPr txBox="1"/>
          <p:nvPr>
            <p:ph type="title"/>
          </p:nvPr>
        </p:nvSpPr>
        <p:spPr>
          <a:xfrm>
            <a:off x="1292927" y="251336"/>
            <a:ext cx="10515600" cy="88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Diseño del Sistema</a:t>
            </a:r>
            <a:endParaRPr/>
          </a:p>
        </p:txBody>
      </p:sp>
      <p:sp>
        <p:nvSpPr>
          <p:cNvPr id="214" name="Google Shape;214;p8"/>
          <p:cNvSpPr txBox="1"/>
          <p:nvPr/>
        </p:nvSpPr>
        <p:spPr>
          <a:xfrm>
            <a:off x="1613576" y="1012859"/>
            <a:ext cx="5808300" cy="8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Diagramas de Actividades Principales principal de sistema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5" name="Google Shape;21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931" y="1648030"/>
            <a:ext cx="5208550" cy="475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15946" y="1582070"/>
            <a:ext cx="5344925" cy="452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"/>
          <p:cNvSpPr txBox="1"/>
          <p:nvPr>
            <p:ph type="title"/>
          </p:nvPr>
        </p:nvSpPr>
        <p:spPr>
          <a:xfrm>
            <a:off x="1510151" y="447875"/>
            <a:ext cx="7163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Tecnologías del Desarrollo</a:t>
            </a:r>
            <a:endParaRPr/>
          </a:p>
        </p:txBody>
      </p:sp>
      <p:sp>
        <p:nvSpPr>
          <p:cNvPr id="222" name="Google Shape;222;p9"/>
          <p:cNvSpPr txBox="1"/>
          <p:nvPr/>
        </p:nvSpPr>
        <p:spPr>
          <a:xfrm>
            <a:off x="672275" y="1535527"/>
            <a:ext cx="5261100" cy="51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500">
                <a:solidFill>
                  <a:schemeClr val="lt1"/>
                </a:solidFill>
              </a:rPr>
              <a:t>Móvil (Flutter v3 / React Native):</a:t>
            </a:r>
            <a:r>
              <a:rPr lang="es-CL" sz="1500">
                <a:solidFill>
                  <a:schemeClr val="lt1"/>
                </a:solidFill>
              </a:rPr>
              <a:t> Aplicación multiplataforma (Android/iOS) para búsqueda en mapa, postulación y notificaciones push de los estudiantes.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500">
                <a:solidFill>
                  <a:schemeClr val="lt1"/>
                </a:solidFill>
              </a:rPr>
              <a:t>Backend (Node.js v20 / Express):</a:t>
            </a:r>
            <a:r>
              <a:rPr lang="es-CL" sz="1500">
                <a:solidFill>
                  <a:schemeClr val="lt1"/>
                </a:solidFill>
              </a:rPr>
              <a:t> API RESTful centralizada encargada de la lógica de negocio, reglas de compatibilidad y comunicación entre plataformas.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500">
                <a:solidFill>
                  <a:schemeClr val="lt1"/>
                </a:solidFill>
              </a:rPr>
              <a:t>Base de Datos (PostgreSQL v16):</a:t>
            </a:r>
            <a:r>
              <a:rPr lang="es-CL" sz="1500">
                <a:solidFill>
                  <a:schemeClr val="lt1"/>
                </a:solidFill>
              </a:rPr>
              <a:t> Base de datos relacional para la persistencia segura de usuarios, publicaciones, contratos de suscripción e historial transaccional.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500">
                <a:solidFill>
                  <a:schemeClr val="lt1"/>
                </a:solidFill>
              </a:rPr>
              <a:t>Integraciones y Servicios:</a:t>
            </a:r>
            <a:endParaRPr b="1" sz="1500">
              <a:solidFill>
                <a:schemeClr val="lt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b="1" lang="es-CL" sz="1500">
                <a:solidFill>
                  <a:schemeClr val="lt1"/>
                </a:solidFill>
              </a:rPr>
              <a:t>Stripe API / Webpay:</a:t>
            </a:r>
            <a:r>
              <a:rPr lang="es-CL" sz="1500">
                <a:solidFill>
                  <a:schemeClr val="lt1"/>
                </a:solidFill>
              </a:rPr>
              <a:t> Pasarela de pago segura para suscripciones mensuales y cobros recurrentes vía tokenización.</a:t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b="1" lang="es-CL" sz="1500">
                <a:solidFill>
                  <a:schemeClr val="lt1"/>
                </a:solidFill>
              </a:rPr>
              <a:t>Google Maps API:</a:t>
            </a:r>
            <a:r>
              <a:rPr lang="es-CL" sz="1500">
                <a:solidFill>
                  <a:schemeClr val="lt1"/>
                </a:solidFill>
              </a:rPr>
              <a:t> Georreferenciación y visualización interactiva de ofertas de práctica.</a:t>
            </a:r>
            <a:endParaRPr sz="15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3" name="Google Shape;223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32325" y="796950"/>
            <a:ext cx="2683301" cy="1509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57850" y="2669380"/>
            <a:ext cx="1956624" cy="119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71875" y="2545225"/>
            <a:ext cx="2078875" cy="156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587180" y="4541600"/>
            <a:ext cx="2404075" cy="100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85775" y="4261675"/>
            <a:ext cx="3349005" cy="17514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0"/>
          <p:cNvSpPr txBox="1"/>
          <p:nvPr>
            <p:ph type="title"/>
          </p:nvPr>
        </p:nvSpPr>
        <p:spPr>
          <a:xfrm>
            <a:off x="767649" y="150829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Responsabilidades</a:t>
            </a:r>
            <a:endParaRPr/>
          </a:p>
        </p:txBody>
      </p:sp>
      <p:sp>
        <p:nvSpPr>
          <p:cNvPr id="233" name="Google Shape;233;p10"/>
          <p:cNvSpPr txBox="1"/>
          <p:nvPr/>
        </p:nvSpPr>
        <p:spPr>
          <a:xfrm>
            <a:off x="753794" y="70274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Planificación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4" name="Google Shape;234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7425" y="1682448"/>
            <a:ext cx="5480100" cy="409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1"/>
          <p:cNvSpPr txBox="1"/>
          <p:nvPr>
            <p:ph type="title"/>
          </p:nvPr>
        </p:nvSpPr>
        <p:spPr>
          <a:xfrm>
            <a:off x="791475" y="78725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Estimación de Riesgos</a:t>
            </a:r>
            <a:endParaRPr/>
          </a:p>
        </p:txBody>
      </p:sp>
      <p:pic>
        <p:nvPicPr>
          <p:cNvPr id="240" name="Google Shape;240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3208" y="1761250"/>
            <a:ext cx="5360042" cy="459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2"/>
          <p:cNvSpPr txBox="1"/>
          <p:nvPr>
            <p:ph type="title"/>
          </p:nvPr>
        </p:nvSpPr>
        <p:spPr>
          <a:xfrm>
            <a:off x="753794" y="70274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Planificación</a:t>
            </a:r>
            <a:endParaRPr/>
          </a:p>
        </p:txBody>
      </p:sp>
      <p:pic>
        <p:nvPicPr>
          <p:cNvPr id="246" name="Google Shape;246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180712"/>
            <a:ext cx="11372850" cy="409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3"/>
          <p:cNvSpPr txBox="1"/>
          <p:nvPr>
            <p:ph type="title"/>
          </p:nvPr>
        </p:nvSpPr>
        <p:spPr>
          <a:xfrm>
            <a:off x="838194" y="299324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Resumen de Costos Estimados del Proyecto (resumido, lo mas cercano a la realidad)</a:t>
            </a:r>
            <a:endParaRPr/>
          </a:p>
        </p:txBody>
      </p:sp>
      <p:pic>
        <p:nvPicPr>
          <p:cNvPr id="252" name="Google Shape;25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5725" y="2139322"/>
            <a:ext cx="4117650" cy="300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23550" y="1625022"/>
            <a:ext cx="4329200" cy="485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f796d2c528_0_5"/>
          <p:cNvSpPr txBox="1"/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CL"/>
              <a:t>Conclusiones</a:t>
            </a:r>
            <a:endParaRPr/>
          </a:p>
        </p:txBody>
      </p:sp>
      <p:sp>
        <p:nvSpPr>
          <p:cNvPr id="259" name="Google Shape;259;g3f796d2c528_0_5"/>
          <p:cNvSpPr txBox="1"/>
          <p:nvPr/>
        </p:nvSpPr>
        <p:spPr>
          <a:xfrm>
            <a:off x="1598375" y="2079775"/>
            <a:ext cx="9385200" cy="26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chemeClr val="lt1"/>
                </a:solidFill>
              </a:rPr>
              <a:t>El desarrollo de </a:t>
            </a:r>
            <a:r>
              <a:rPr b="1" lang="es-CL" sz="2000">
                <a:solidFill>
                  <a:schemeClr val="lt1"/>
                </a:solidFill>
              </a:rPr>
              <a:t>PracticasPro</a:t>
            </a:r>
            <a:r>
              <a:rPr lang="es-CL" sz="2000">
                <a:solidFill>
                  <a:schemeClr val="lt1"/>
                </a:solidFill>
              </a:rPr>
              <a:t> representa una solución integral, viable e innovadora a la problemática de inserción laboral temprana en Duoc UC. Al centralizar la oferta académica, incorporar compatibilidad automatizada de perfiles y ofrecer un modelo escalable de suscripciones con geolocalización, el proyecto no solo optimiza la vinculación entre estudiantes y empresas en la Región Metropolitana, sino que consolida la aplicación práctica de arquitecturas modernas de software e integración de servicios externos.</a:t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