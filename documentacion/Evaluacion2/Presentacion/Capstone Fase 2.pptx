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Open Sans Bold" charset="1" panose="020B0806030504020204"/>
      <p:regular r:id="rId40"/>
    </p:embeddedFont>
    <p:embeddedFont>
      <p:font typeface="Poppins" charset="1" panose="00000500000000000000"/>
      <p:regular r:id="rId41"/>
    </p:embeddedFont>
    <p:embeddedFont>
      <p:font typeface="DM Sans" charset="1" panose="00000000000000000000"/>
      <p:regular r:id="rId42"/>
    </p:embeddedFont>
    <p:embeddedFont>
      <p:font typeface="DM Sans Bold" charset="1" panose="00000000000000000000"/>
      <p:regular r:id="rId43"/>
    </p:embeddedFont>
    <p:embeddedFont>
      <p:font typeface="Open Sans" charset="1" panose="020B06060305040202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jpeg" Type="http://schemas.openxmlformats.org/officeDocument/2006/relationships/image"/><Relationship Id="rId6" Target="../media/image4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4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4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99770" y="-52323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1" y="0"/>
                </a:lnTo>
                <a:lnTo>
                  <a:pt x="2647751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68213" y="1162944"/>
            <a:ext cx="7516996" cy="8987817"/>
            <a:chOff x="0" y="0"/>
            <a:chExt cx="8603361" cy="102867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50" y="-128"/>
              <a:ext cx="8603411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3411">
                  <a:moveTo>
                    <a:pt x="8603411" y="10251441"/>
                  </a:moveTo>
                  <a:cubicBezTo>
                    <a:pt x="8603411" y="10284588"/>
                    <a:pt x="8592743" y="10286874"/>
                    <a:pt x="8564930" y="10286874"/>
                  </a:cubicBezTo>
                  <a:cubicBezTo>
                    <a:pt x="5710350" y="10286239"/>
                    <a:pt x="2855899" y="10286239"/>
                    <a:pt x="1320" y="10286239"/>
                  </a:cubicBezTo>
                  <a:cubicBezTo>
                    <a:pt x="-2744" y="10272396"/>
                    <a:pt x="3606" y="10259823"/>
                    <a:pt x="6527" y="10246996"/>
                  </a:cubicBezTo>
                  <a:cubicBezTo>
                    <a:pt x="132003" y="9685402"/>
                    <a:pt x="257606" y="9123935"/>
                    <a:pt x="383463" y="8562467"/>
                  </a:cubicBezTo>
                  <a:cubicBezTo>
                    <a:pt x="562914" y="7761986"/>
                    <a:pt x="742746" y="6961633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6"/>
                    <a:pt x="8602395" y="6846317"/>
                    <a:pt x="8603411" y="10251441"/>
                  </a:cubicBezTo>
                  <a:close/>
                </a:path>
              </a:pathLst>
            </a:custGeom>
            <a:blipFill>
              <a:blip r:embed="rId4"/>
              <a:stretch>
                <a:fillRect l="0" t="-12765" r="0" b="-12765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9258300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7960" y="637583"/>
            <a:ext cx="2071301" cy="1921826"/>
          </a:xfrm>
          <a:custGeom>
            <a:avLst/>
            <a:gdLst/>
            <a:ahLst/>
            <a:cxnLst/>
            <a:rect r="r" b="b" t="t" l="l"/>
            <a:pathLst>
              <a:path h="1921826" w="2071301">
                <a:moveTo>
                  <a:pt x="0" y="0"/>
                </a:moveTo>
                <a:lnTo>
                  <a:pt x="2071301" y="0"/>
                </a:lnTo>
                <a:lnTo>
                  <a:pt x="2071301" y="1921826"/>
                </a:lnTo>
                <a:lnTo>
                  <a:pt x="0" y="19218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4273563"/>
            <a:ext cx="10389807" cy="3855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sz="340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</a:t>
            </a:r>
            <a:r>
              <a:rPr lang="en-US" b="true" sz="34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geniería en Informática</a:t>
            </a:r>
          </a:p>
          <a:p>
            <a:pPr algn="ctr">
              <a:lnSpc>
                <a:spcPts val="4772"/>
              </a:lnSpc>
            </a:pPr>
            <a:r>
              <a:rPr lang="en-US" b="true" sz="34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Informática y Telecomunicaciones</a:t>
            </a:r>
          </a:p>
          <a:p>
            <a:pPr algn="ctr">
              <a:lnSpc>
                <a:spcPts val="4772"/>
              </a:lnSpc>
            </a:pPr>
            <a:r>
              <a:rPr lang="en-US" b="true" sz="34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Sede Puente Alto</a:t>
            </a:r>
          </a:p>
          <a:p>
            <a:pPr algn="ctr">
              <a:lnSpc>
                <a:spcPts val="4772"/>
              </a:lnSpc>
            </a:pPr>
            <a:r>
              <a:rPr lang="en-US" b="true" sz="34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2026</a:t>
            </a:r>
          </a:p>
          <a:p>
            <a:pPr algn="ctr">
              <a:lnSpc>
                <a:spcPts val="4154"/>
              </a:lnSpc>
            </a:pPr>
          </a:p>
          <a:p>
            <a:pPr algn="ctr">
              <a:lnSpc>
                <a:spcPts val="3660"/>
              </a:lnSpc>
            </a:pPr>
          </a:p>
          <a:p>
            <a:pPr algn="ctr">
              <a:lnSpc>
                <a:spcPts val="366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593496" y="2968756"/>
            <a:ext cx="5693070" cy="1215267"/>
          </a:xfrm>
          <a:custGeom>
            <a:avLst/>
            <a:gdLst/>
            <a:ahLst/>
            <a:cxnLst/>
            <a:rect r="r" b="b" t="t" l="l"/>
            <a:pathLst>
              <a:path h="1215267" w="5693070">
                <a:moveTo>
                  <a:pt x="0" y="0"/>
                </a:moveTo>
                <a:lnTo>
                  <a:pt x="5693071" y="0"/>
                </a:lnTo>
                <a:lnTo>
                  <a:pt x="5693071" y="1215267"/>
                </a:lnTo>
                <a:lnTo>
                  <a:pt x="0" y="1215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2803" r="0" b="-4872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7960" y="7416452"/>
            <a:ext cx="11476507" cy="273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Docente Instructo</a:t>
            </a: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 de la Asignatura:Fabián Enrique Saldaño Perez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Integrantes del Equipo: Catalina Zarate</a:t>
            </a:r>
          </a:p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                      Tomas Pozo Morales</a:t>
            </a:r>
          </a:p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                      Nicolas Pozo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509736" y="437558"/>
            <a:ext cx="8790034" cy="187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89"/>
              </a:lnSpc>
            </a:pPr>
            <a:r>
              <a:rPr lang="en-US" sz="11063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PracticasPro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21129" y="6139345"/>
            <a:ext cx="325707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-2872976" y="6773711"/>
            <a:ext cx="1180393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Asignatura: CAPSTONE_708V_OLS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736063" y="2968756"/>
            <a:ext cx="5407937" cy="1215267"/>
          </a:xfrm>
          <a:custGeom>
            <a:avLst/>
            <a:gdLst/>
            <a:ahLst/>
            <a:cxnLst/>
            <a:rect r="r" b="b" t="t" l="l"/>
            <a:pathLst>
              <a:path h="1215267" w="5407937">
                <a:moveTo>
                  <a:pt x="0" y="0"/>
                </a:moveTo>
                <a:lnTo>
                  <a:pt x="5407937" y="0"/>
                </a:lnTo>
                <a:lnTo>
                  <a:pt x="5407937" y="1215267"/>
                </a:lnTo>
                <a:lnTo>
                  <a:pt x="0" y="1215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6667" y="3084143"/>
            <a:ext cx="2613061" cy="2611507"/>
            <a:chOff x="0" y="0"/>
            <a:chExt cx="991873" cy="9912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133964" y="4640463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844564" y="3084143"/>
            <a:ext cx="2613061" cy="2611507"/>
            <a:chOff x="0" y="0"/>
            <a:chExt cx="991873" cy="9912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5991861" y="4640463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000675" y="1509629"/>
            <a:ext cx="6992751" cy="8074770"/>
            <a:chOff x="0" y="0"/>
            <a:chExt cx="54991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991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499100">
                  <a:moveTo>
                    <a:pt x="2749550" y="6350000"/>
                  </a:moveTo>
                  <a:lnTo>
                    <a:pt x="0" y="4762500"/>
                  </a:lnTo>
                  <a:lnTo>
                    <a:pt x="0" y="1587500"/>
                  </a:lnTo>
                  <a:lnTo>
                    <a:pt x="2749550" y="0"/>
                  </a:lnTo>
                  <a:lnTo>
                    <a:pt x="5499100" y="1587500"/>
                  </a:lnTo>
                  <a:lnTo>
                    <a:pt x="5499100" y="4762500"/>
                  </a:lnTo>
                  <a:lnTo>
                    <a:pt x="2749550" y="6350000"/>
                  </a:lnTo>
                  <a:close/>
                </a:path>
              </a:pathLst>
            </a:custGeom>
            <a:solidFill>
              <a:srgbClr val="56AEFF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143550" y="1698193"/>
            <a:ext cx="6697476" cy="7733806"/>
            <a:chOff x="0" y="0"/>
            <a:chExt cx="54991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991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499100">
                  <a:moveTo>
                    <a:pt x="2749550" y="6350000"/>
                  </a:moveTo>
                  <a:lnTo>
                    <a:pt x="0" y="4762500"/>
                  </a:lnTo>
                  <a:lnTo>
                    <a:pt x="0" y="1587500"/>
                  </a:lnTo>
                  <a:lnTo>
                    <a:pt x="2749550" y="0"/>
                  </a:lnTo>
                  <a:lnTo>
                    <a:pt x="5499100" y="1587500"/>
                  </a:lnTo>
                  <a:lnTo>
                    <a:pt x="5499100" y="4762500"/>
                  </a:lnTo>
                  <a:lnTo>
                    <a:pt x="2749550" y="6350000"/>
                  </a:lnTo>
                  <a:close/>
                </a:path>
              </a:pathLst>
            </a:custGeom>
            <a:blipFill>
              <a:blip r:embed="rId2"/>
              <a:stretch>
                <a:fillRect l="-36659" t="0" r="-36659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986667" y="5867099"/>
            <a:ext cx="2613061" cy="2611507"/>
            <a:chOff x="0" y="0"/>
            <a:chExt cx="991873" cy="9912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3133964" y="7191903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-7284815" y="640819"/>
            <a:ext cx="9077445" cy="9077445"/>
          </a:xfrm>
          <a:custGeom>
            <a:avLst/>
            <a:gdLst/>
            <a:ahLst/>
            <a:cxnLst/>
            <a:rect r="r" b="b" t="t" l="l"/>
            <a:pathLst>
              <a:path h="9077445" w="9077445">
                <a:moveTo>
                  <a:pt x="0" y="0"/>
                </a:moveTo>
                <a:lnTo>
                  <a:pt x="9077445" y="0"/>
                </a:lnTo>
                <a:lnTo>
                  <a:pt x="9077445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86667" y="1621993"/>
            <a:ext cx="8437330" cy="129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25"/>
              </a:lnSpc>
              <a:spcBef>
                <a:spcPct val="0"/>
              </a:spcBef>
            </a:pPr>
            <a:r>
              <a:rPr lang="en-US" sz="8020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CONTENIDO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33964" y="4795854"/>
            <a:ext cx="2318467" cy="31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Problematica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47970" y="3225902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91861" y="4795854"/>
            <a:ext cx="2318467" cy="64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Tecnologias de desarrollo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05867" y="3225902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33964" y="7591953"/>
            <a:ext cx="2318467" cy="318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Plamificacion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47970" y="6009974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5844564" y="5886149"/>
            <a:ext cx="2613061" cy="2611507"/>
            <a:chOff x="0" y="0"/>
            <a:chExt cx="991873" cy="9912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145DA0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305867" y="6009974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AutoShape 31" id="31"/>
          <p:cNvSpPr/>
          <p:nvPr/>
        </p:nvSpPr>
        <p:spPr>
          <a:xfrm flipV="true">
            <a:off x="5991861" y="7153803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5876519" y="7553853"/>
            <a:ext cx="2318467" cy="64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Demo de la pagina web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1160" y="9258300"/>
            <a:ext cx="13457996" cy="3264379"/>
            <a:chOff x="0" y="0"/>
            <a:chExt cx="17943995" cy="4352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6150721">
            <a:off x="6080933" y="4579544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7172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807534" y="0"/>
            <a:ext cx="6254290" cy="10287000"/>
            <a:chOff x="0" y="0"/>
            <a:chExt cx="3860673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606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3860673">
                  <a:moveTo>
                    <a:pt x="3860673" y="0"/>
                  </a:moveTo>
                  <a:lnTo>
                    <a:pt x="2341753" y="6350000"/>
                  </a:lnTo>
                  <a:lnTo>
                    <a:pt x="0" y="6350000"/>
                  </a:lnTo>
                  <a:lnTo>
                    <a:pt x="1518920" y="0"/>
                  </a:lnTo>
                  <a:lnTo>
                    <a:pt x="3860673" y="0"/>
                  </a:lnTo>
                  <a:close/>
                </a:path>
              </a:pathLst>
            </a:custGeom>
            <a:blipFill>
              <a:blip r:embed="rId5"/>
              <a:stretch>
                <a:fillRect l="-73436" t="0" r="-73436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4615544">
            <a:off x="10510810" y="5041623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7172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1160" y="345250"/>
            <a:ext cx="13760941" cy="129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25"/>
              </a:lnSpc>
              <a:spcBef>
                <a:spcPct val="0"/>
              </a:spcBef>
            </a:pPr>
            <a:r>
              <a:rPr lang="en-US" sz="80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PROBLEMÁTICA A RESOLVER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46143" y="2441254"/>
            <a:ext cx="10798096" cy="652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875" indent="-285938" lvl="1">
              <a:lnSpc>
                <a:spcPts val="3708"/>
              </a:lnSpc>
              <a:buFont typeface="Arial"/>
              <a:buChar char="•"/>
            </a:pPr>
            <a:r>
              <a:rPr lang="en-US" b="true" sz="264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Brecha de inserción laboral:</a:t>
            </a:r>
            <a:r>
              <a:rPr lang="en-US" sz="2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Los estudiantes de carreras técnicas y profesionales enfrentan dificultades para encontrar su primera práctica adaptada a su ubicación geo</a:t>
            </a:r>
            <a:r>
              <a:rPr lang="en-US" sz="2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gráfica y especialidad.</a:t>
            </a:r>
          </a:p>
          <a:p>
            <a:pPr algn="l">
              <a:lnSpc>
                <a:spcPts val="3708"/>
              </a:lnSpc>
            </a:pPr>
          </a:p>
          <a:p>
            <a:pPr algn="l" marL="571875" indent="-285938" lvl="1">
              <a:lnSpc>
                <a:spcPts val="3708"/>
              </a:lnSpc>
              <a:buFont typeface="Arial"/>
              <a:buChar char="•"/>
            </a:pPr>
            <a:r>
              <a:rPr lang="en-US" b="true" sz="264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Falta de preparación en postulaciones</a:t>
            </a:r>
            <a:r>
              <a:rPr lang="en-US" sz="2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Gran parte de los postulantes entrega CVs poco estructurados y carece de orientación para afrontar entrevistas laborales.</a:t>
            </a:r>
          </a:p>
          <a:p>
            <a:pPr algn="l">
              <a:lnSpc>
                <a:spcPts val="3708"/>
              </a:lnSpc>
            </a:pPr>
          </a:p>
          <a:p>
            <a:pPr algn="l" marL="571875" indent="-285938" lvl="1">
              <a:lnSpc>
                <a:spcPts val="3708"/>
              </a:lnSpc>
              <a:buFont typeface="Arial"/>
              <a:buChar char="•"/>
            </a:pPr>
            <a:r>
              <a:rPr lang="en-US" b="true" sz="264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Falta de herramientas para empresas :</a:t>
            </a:r>
            <a:r>
              <a:rPr lang="en-US" sz="2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Las PYMEs no cuentan con canales centralizados y georreferenciados para publicar vacantes, mientras que la institución carece de visibilidad sobre tasas de postulación e ingresos del modelo de vinculación.</a:t>
            </a:r>
          </a:p>
          <a:p>
            <a:pPr algn="l">
              <a:lnSpc>
                <a:spcPts val="370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1160" y="9258300"/>
            <a:ext cx="13457996" cy="3264379"/>
            <a:chOff x="0" y="0"/>
            <a:chExt cx="17943995" cy="4352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6150721">
            <a:off x="6080933" y="4579544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7172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262332" y="0"/>
            <a:ext cx="6254290" cy="10287000"/>
            <a:chOff x="0" y="0"/>
            <a:chExt cx="3860673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606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3860673">
                  <a:moveTo>
                    <a:pt x="3860673" y="0"/>
                  </a:moveTo>
                  <a:lnTo>
                    <a:pt x="2341753" y="6350000"/>
                  </a:lnTo>
                  <a:lnTo>
                    <a:pt x="0" y="6350000"/>
                  </a:lnTo>
                  <a:lnTo>
                    <a:pt x="1518920" y="0"/>
                  </a:lnTo>
                  <a:lnTo>
                    <a:pt x="3860673" y="0"/>
                  </a:lnTo>
                  <a:close/>
                </a:path>
              </a:pathLst>
            </a:custGeom>
            <a:blipFill>
              <a:blip r:embed="rId5"/>
              <a:stretch>
                <a:fillRect l="-73436" t="0" r="-73436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4615544">
            <a:off x="10510810" y="5041623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7172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85806" y="1625783"/>
            <a:ext cx="12648704" cy="139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b="true" sz="265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Plataforma web int</a:t>
            </a:r>
            <a:r>
              <a:rPr lang="en-US" b="true" sz="265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eg</a:t>
            </a:r>
            <a:r>
              <a:rPr lang="en-US" b="true" sz="265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ral desarrollada</a:t>
            </a:r>
            <a:r>
              <a:rPr lang="en-US" b="true" sz="265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en Django y Firebase que conecta a dos actores fundamentales: Estudiantes y Empresas.</a:t>
            </a:r>
          </a:p>
          <a:p>
            <a:pPr algn="ctr">
              <a:lnSpc>
                <a:spcPts val="371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2677160"/>
            <a:ext cx="12917059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Generativa de Empleabilidad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(ProBot IA): Coach virtual y asistente integrado con la API de Google Gemini (gemini-3.8-flash) para revisión de CV y generación de cartas de presentación personalizadas.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Búsqueda Georreferenciada: 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Mapa interactivo con Leaflet.js para ubicar ofertas de práctica en tiempo real según coordenadas geográficas.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Freemium y Monetización Integrada: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Integración con la pasarela Mercado Pago para la suscripción al Plan Premium.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700821" y="8152915"/>
            <a:ext cx="9359489" cy="2134085"/>
          </a:xfrm>
          <a:custGeom>
            <a:avLst/>
            <a:gdLst/>
            <a:ahLst/>
            <a:cxnLst/>
            <a:rect r="r" b="b" t="t" l="l"/>
            <a:pathLst>
              <a:path h="2134085" w="9359489">
                <a:moveTo>
                  <a:pt x="0" y="0"/>
                </a:moveTo>
                <a:lnTo>
                  <a:pt x="9359489" y="0"/>
                </a:lnTo>
                <a:lnTo>
                  <a:pt x="9359489" y="2134085"/>
                </a:lnTo>
                <a:lnTo>
                  <a:pt x="0" y="21340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75170" y="-35210"/>
            <a:ext cx="1030431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2078169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37934" y="4029348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9" y="0"/>
                </a:lnTo>
                <a:lnTo>
                  <a:pt x="3075319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51686" y="3419976"/>
            <a:ext cx="6678537" cy="18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047543" y="57908"/>
            <a:ext cx="1165467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Objetivo de</a:t>
            </a:r>
            <a:r>
              <a:rPr lang="en-US" sz="9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7120" y="2273652"/>
            <a:ext cx="11313140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se d</a:t>
            </a: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esarrolló como producto de software?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4290985"/>
            <a:ext cx="14614642" cy="475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3"/>
              </a:lnSpc>
            </a:pPr>
            <a:r>
              <a:rPr lang="en-US" sz="27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portal web transaccional, escalable y seguro, que automatiza el ciclo de vida de la búsqueda y gestión de prácticas profesionales. </a:t>
            </a:r>
          </a:p>
          <a:p>
            <a:pPr algn="ctr" marL="586615" indent="-293308" lvl="1">
              <a:lnSpc>
                <a:spcPts val="3803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Estudiantes: Motor de búsqueda por carrera/modalidad/región, postulación en un clic con adjunto de CV, y coaching interactivo con I</a:t>
            </a:r>
            <a:r>
              <a:rPr lang="en-US" sz="27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24/7. </a:t>
            </a:r>
          </a:p>
          <a:p>
            <a:pPr algn="ctr" marL="586615" indent="-293308" lvl="1">
              <a:lnSpc>
                <a:spcPts val="3803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Empresas: Portal corporativo para creación de ofertas con geolocalización, evaluación de candidatos y actualización de estados. </a:t>
            </a:r>
          </a:p>
          <a:p>
            <a:pPr algn="ctr" marL="586615" indent="-293308" lvl="1">
              <a:lnSpc>
                <a:spcPts val="3803"/>
              </a:lnSpc>
              <a:buFont typeface="Arial"/>
              <a:buChar char="•"/>
            </a:pPr>
            <a:r>
              <a:rPr lang="en-US" sz="27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 Administradores: Dashboard analítico con gráficos dinámicos, control de usuarios/ofertas, monitoreo de suscripciones y exportación de reportes en formato CSV.</a:t>
            </a:r>
          </a:p>
          <a:p>
            <a:pPr algn="ctr">
              <a:lnSpc>
                <a:spcPts val="380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286157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510973" y="2731515"/>
            <a:ext cx="8457192" cy="105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ALCANCE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94930" y="0"/>
            <a:ext cx="5693070" cy="1215267"/>
          </a:xfrm>
          <a:custGeom>
            <a:avLst/>
            <a:gdLst/>
            <a:ahLst/>
            <a:cxnLst/>
            <a:rect r="r" b="b" t="t" l="l"/>
            <a:pathLst>
              <a:path h="1215267" w="5693070">
                <a:moveTo>
                  <a:pt x="0" y="0"/>
                </a:moveTo>
                <a:lnTo>
                  <a:pt x="5693070" y="0"/>
                </a:lnTo>
                <a:lnTo>
                  <a:pt x="5693070" y="1215267"/>
                </a:lnTo>
                <a:lnTo>
                  <a:pt x="0" y="1215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2803" r="0" b="-4872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37496" y="0"/>
            <a:ext cx="5407937" cy="1215267"/>
          </a:xfrm>
          <a:custGeom>
            <a:avLst/>
            <a:gdLst/>
            <a:ahLst/>
            <a:cxnLst/>
            <a:rect r="r" b="b" t="t" l="l"/>
            <a:pathLst>
              <a:path h="1215267" w="5407937">
                <a:moveTo>
                  <a:pt x="0" y="0"/>
                </a:moveTo>
                <a:lnTo>
                  <a:pt x="5407937" y="0"/>
                </a:lnTo>
                <a:lnTo>
                  <a:pt x="5407937" y="1215267"/>
                </a:lnTo>
                <a:lnTo>
                  <a:pt x="0" y="1215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37934" y="4029348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9" y="0"/>
                </a:lnTo>
                <a:lnTo>
                  <a:pt x="3075319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4809" y="3419976"/>
            <a:ext cx="11876222" cy="5238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7"/>
              </a:lnSpc>
            </a:pPr>
          </a:p>
          <a:p>
            <a:pPr algn="l">
              <a:lnSpc>
                <a:spcPts val="3107"/>
              </a:lnSpc>
            </a:pP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Autenticación y Control de Acceso (RBAC):</a:t>
            </a:r>
            <a:r>
              <a:rPr lang="en-US" sz="22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Gestión de sesiones por rol utilizando Firebase Auth y variables de sesión de Django. </a:t>
            </a: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Asistente Virtual con IA</a:t>
            </a:r>
            <a:r>
              <a:rPr lang="en-US" sz="22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Chatbot conversacional para preparación de entrevistas y generador de cartas de presentación. </a:t>
            </a: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Pasarela de Pago y Webhook:</a:t>
            </a:r>
            <a:r>
              <a:rPr lang="en-US" sz="22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Procesamiento de pagos vía Mercado Pago SDK con confirmación asíncrona mediante webhooks IPN. </a:t>
            </a: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 de Postulaciones:</a:t>
            </a:r>
            <a:r>
              <a:rPr lang="en-US" sz="22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Cambio de estados (Pendiente, Aceptado, Rechazado) con mensajes de retroalimentación de la empresa al estudiante. </a:t>
            </a: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Reportabilidad CSV:</a:t>
            </a:r>
            <a:r>
              <a:rPr lang="en-US" sz="221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Generación de reportes descargables de usuarios, suscripciones y ofertas. </a:t>
            </a:r>
          </a:p>
          <a:p>
            <a:pPr algn="ctr">
              <a:lnSpc>
                <a:spcPts val="1567"/>
              </a:lnSpc>
            </a:pPr>
          </a:p>
          <a:p>
            <a:pPr algn="ctr">
              <a:lnSpc>
                <a:spcPts val="1567"/>
              </a:lnSpc>
            </a:pPr>
          </a:p>
          <a:p>
            <a:pPr algn="ctr">
              <a:lnSpc>
                <a:spcPts val="1567"/>
              </a:lnSpc>
            </a:pPr>
          </a:p>
          <a:p>
            <a:pPr algn="ctr">
              <a:lnSpc>
                <a:spcPts val="156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519416" y="-1026911"/>
            <a:ext cx="11021616" cy="48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Qué h</a:t>
            </a:r>
            <a:r>
              <a:rPr lang="en-US" sz="9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ace el Sistema</a:t>
            </a:r>
          </a:p>
          <a:p>
            <a:pPr algn="ctr">
              <a:lnSpc>
                <a:spcPts val="12880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37934" y="4029348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9" y="0"/>
                </a:lnTo>
                <a:lnTo>
                  <a:pt x="3075319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4809" y="3419976"/>
            <a:ext cx="11876222" cy="641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7"/>
              </a:lnSpc>
            </a:pPr>
          </a:p>
          <a:p>
            <a:pPr algn="l">
              <a:lnSpc>
                <a:spcPts val="3107"/>
              </a:lnSpc>
            </a:pP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realiza la firma digi</a:t>
            </a: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tal ni la convalidación formal de los convenios académicos de práctica (proceso administrativo interno de la institución).</a:t>
            </a: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reemplaza las entrevistas presenciales u online finales entre la empresa y el estudiante.</a:t>
            </a: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guarda informacion bancaria.</a:t>
            </a:r>
          </a:p>
          <a:p>
            <a:pPr algn="l">
              <a:lnSpc>
                <a:spcPts val="3107"/>
              </a:lnSpc>
            </a:pPr>
          </a:p>
          <a:p>
            <a:pPr algn="l">
              <a:lnSpc>
                <a:spcPts val="3107"/>
              </a:lnSpc>
            </a:pPr>
            <a:r>
              <a:rPr lang="en-US" sz="221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Restricciones y Consideraciones</a:t>
            </a: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Filtro Regional Freemium: Los usuarios con cuenta Free están restringidos a buscar prácticas dentro de su región base; el filtro multirregional requiere la activación del Plan Premium ($2.990 CLP). </a:t>
            </a: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  <a:r>
              <a:rPr lang="en-US" b="true" sz="221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Dependencias de Red: Requiere conexión activa a Internet para consumir las APIs de Firebase, Mercado Pago y Google Gemini.</a:t>
            </a:r>
          </a:p>
          <a:p>
            <a:pPr algn="l" marL="479196" indent="-239598" lvl="1">
              <a:lnSpc>
                <a:spcPts val="3107"/>
              </a:lnSpc>
              <a:buFont typeface="Arial"/>
              <a:buChar char="•"/>
            </a:pPr>
          </a:p>
          <a:p>
            <a:pPr algn="ctr">
              <a:lnSpc>
                <a:spcPts val="1567"/>
              </a:lnSpc>
            </a:pPr>
          </a:p>
          <a:p>
            <a:pPr algn="ctr">
              <a:lnSpc>
                <a:spcPts val="1567"/>
              </a:lnSpc>
            </a:pPr>
          </a:p>
          <a:p>
            <a:pPr algn="ctr">
              <a:lnSpc>
                <a:spcPts val="1567"/>
              </a:lnSpc>
            </a:pPr>
          </a:p>
          <a:p>
            <a:pPr algn="ctr">
              <a:lnSpc>
                <a:spcPts val="156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56272" y="-1026911"/>
            <a:ext cx="12747903" cy="482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Qué no h</a:t>
            </a:r>
            <a:r>
              <a:rPr lang="en-US" sz="9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ace el Sistema</a:t>
            </a:r>
          </a:p>
          <a:p>
            <a:pPr algn="ctr">
              <a:lnSpc>
                <a:spcPts val="1288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0651" y="448541"/>
            <a:ext cx="10450651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REQUERIMIENTOS FUNCIONALES (RF)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2998085"/>
            <a:ext cx="16804754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RF01 - Gestión de Us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uarios: Registro e inicio de sesión seguro categorizado por rol (Estudiante, Empresa, Admin). 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RF02 - Publicación de Ofertas: Creación de vacantes indicando título, carrera, requisitos, modalidad y ubicación geográfica (latitud/longitud). 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RF03 - Asistencia por IA: Interfaz interactiva para consultas a ProBot IA y generación de cartas/revisiones de CV. 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RF04 - Pago Suscripción Premium: Integración de checkout y redirección segura con Mercado Pago. 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RF05 - Administración y Reportes: Dashboard con métricas clave, gráficos en Chart.js y exportación CSV.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02905" y="6996360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9" y="0"/>
                </a:lnTo>
                <a:lnTo>
                  <a:pt x="3075319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90651" y="448541"/>
            <a:ext cx="10450651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REQUERIMIENTOS NO FUNCIONALES (RNF)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64971" y="2998085"/>
            <a:ext cx="18288000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RNF01 - Se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guridad: Protección CSRF, almacenamiento de claves en variables/JSON aislados y autenticación por Firebase Auth. 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RNF02 - Usabilidad y Disposiciones: Diseño adaptativo (Responsive Design) con Tailwind CSS e interfaz clara para dispositivos móviles y escritorio. 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RNF03 - Disponibilidad e Integración: Comunicación asíncrona vía JSON/AJAX para consultas a IA y validaciones de pago sin recargar la página.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286157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510973" y="2731515"/>
            <a:ext cx="8457192" cy="303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4"/>
              </a:lnSpc>
            </a:pPr>
            <a:r>
              <a:rPr lang="en-US" sz="65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DEL SISTEMA</a:t>
            </a:r>
          </a:p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971" y="0"/>
            <a:ext cx="18255029" cy="10493551"/>
          </a:xfrm>
          <a:custGeom>
            <a:avLst/>
            <a:gdLst/>
            <a:ahLst/>
            <a:cxnLst/>
            <a:rect r="r" b="b" t="t" l="l"/>
            <a:pathLst>
              <a:path h="10493551" w="18255029">
                <a:moveTo>
                  <a:pt x="0" y="0"/>
                </a:moveTo>
                <a:lnTo>
                  <a:pt x="18255029" y="0"/>
                </a:lnTo>
                <a:lnTo>
                  <a:pt x="18255029" y="10493551"/>
                </a:lnTo>
                <a:lnTo>
                  <a:pt x="0" y="104935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962" t="0" r="-1962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37934" y="4029348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9" y="0"/>
                </a:lnTo>
                <a:lnTo>
                  <a:pt x="3075319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7845" y="148520"/>
            <a:ext cx="15127403" cy="10059723"/>
          </a:xfrm>
          <a:custGeom>
            <a:avLst/>
            <a:gdLst/>
            <a:ahLst/>
            <a:cxnLst/>
            <a:rect r="r" b="b" t="t" l="l"/>
            <a:pathLst>
              <a:path h="10059723" w="15127403">
                <a:moveTo>
                  <a:pt x="0" y="0"/>
                </a:moveTo>
                <a:lnTo>
                  <a:pt x="15127403" y="0"/>
                </a:lnTo>
                <a:lnTo>
                  <a:pt x="15127403" y="10059723"/>
                </a:lnTo>
                <a:lnTo>
                  <a:pt x="0" y="100597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Diagrama de Secuencias.png"/>
          <p:cNvSpPr/>
          <p:nvPr/>
        </p:nvSpPr>
        <p:spPr>
          <a:xfrm flipH="false" flipV="false" rot="0">
            <a:off x="0" y="0"/>
            <a:ext cx="12381420" cy="6422335"/>
          </a:xfrm>
          <a:custGeom>
            <a:avLst/>
            <a:gdLst/>
            <a:ahLst/>
            <a:cxnLst/>
            <a:rect r="r" b="b" t="t" l="l"/>
            <a:pathLst>
              <a:path h="6422335" w="12381420">
                <a:moveTo>
                  <a:pt x="0" y="0"/>
                </a:moveTo>
                <a:lnTo>
                  <a:pt x="12381420" y="0"/>
                </a:lnTo>
                <a:lnTo>
                  <a:pt x="12381420" y="6422335"/>
                </a:lnTo>
                <a:lnTo>
                  <a:pt x="0" y="64223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7709" y="6541568"/>
            <a:ext cx="18160291" cy="360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arquitectura está estructurada en 3 capas independientes bajo el patrón MVT de Django y servicios Cloud: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Capa de Presentación (Frontend):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Interfaz responsiva construida con Plantillas HTML5 y clases utilitarias de Tailwind CSS.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Integración de Leaflet.js para la geolocalización de ofertas en mapas interactivos y Chart.js para métricas administrativas.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Capa de Lógica de Negocio (Backend Django Core):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Enrutamiento seguro (urls.py) y controladores (views.py) que gestionan la lógica Freemium, el control de acceso por roles (RBAC) y la validación de postulaciones.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Capa de Persistencia &amp; Servicios Externos: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Google Firebase: Autenticación de usuarios (Firebase Auth) y base de datos NoSQL distribuida (Firestore).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APIs &amp; SDKs: Conexión con Google Gemini API (gemini-3.8-flash) para ProBot IA y Mercado Pago SDK para pagos asíncronos mediante Webhooks.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070" y="-1189512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7095" y="6856795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8" y="0"/>
                </a:lnTo>
                <a:lnTo>
                  <a:pt x="3075318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82864" y="2548791"/>
            <a:ext cx="13084230" cy="6525760"/>
          </a:xfrm>
          <a:custGeom>
            <a:avLst/>
            <a:gdLst/>
            <a:ahLst/>
            <a:cxnLst/>
            <a:rect r="r" b="b" t="t" l="l"/>
            <a:pathLst>
              <a:path h="6525760" w="13084230">
                <a:moveTo>
                  <a:pt x="0" y="0"/>
                </a:moveTo>
                <a:lnTo>
                  <a:pt x="13084231" y="0"/>
                </a:lnTo>
                <a:lnTo>
                  <a:pt x="13084231" y="6525760"/>
                </a:lnTo>
                <a:lnTo>
                  <a:pt x="0" y="65257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93998" y="981075"/>
            <a:ext cx="1045065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PRINCIPALES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6398" y="-1341028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7095" y="6856795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8" y="0"/>
                </a:lnTo>
                <a:lnTo>
                  <a:pt x="3075318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3170" y="2280991"/>
            <a:ext cx="14983925" cy="7417043"/>
          </a:xfrm>
          <a:custGeom>
            <a:avLst/>
            <a:gdLst/>
            <a:ahLst/>
            <a:cxnLst/>
            <a:rect r="r" b="b" t="t" l="l"/>
            <a:pathLst>
              <a:path h="7417043" w="14983925">
                <a:moveTo>
                  <a:pt x="0" y="0"/>
                </a:moveTo>
                <a:lnTo>
                  <a:pt x="14983925" y="0"/>
                </a:lnTo>
                <a:lnTo>
                  <a:pt x="14983925" y="7417042"/>
                </a:lnTo>
                <a:lnTo>
                  <a:pt x="0" y="74170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197" y="1179788"/>
            <a:ext cx="1045065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PRINCIPALES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6398" y="-1341028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7095" y="6856795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8" y="0"/>
                </a:lnTo>
                <a:lnTo>
                  <a:pt x="3075318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94123" y="2937864"/>
            <a:ext cx="13084230" cy="6583003"/>
          </a:xfrm>
          <a:custGeom>
            <a:avLst/>
            <a:gdLst/>
            <a:ahLst/>
            <a:cxnLst/>
            <a:rect r="r" b="b" t="t" l="l"/>
            <a:pathLst>
              <a:path h="6583003" w="13084230">
                <a:moveTo>
                  <a:pt x="0" y="0"/>
                </a:moveTo>
                <a:lnTo>
                  <a:pt x="13084230" y="0"/>
                </a:lnTo>
                <a:lnTo>
                  <a:pt x="13084230" y="6583003"/>
                </a:lnTo>
                <a:lnTo>
                  <a:pt x="0" y="65830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197" y="1179788"/>
            <a:ext cx="1045065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PRINCIPALES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6398" y="-1341028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7095" y="6856795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8" y="0"/>
                </a:lnTo>
                <a:lnTo>
                  <a:pt x="3075318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93799" y="2554755"/>
            <a:ext cx="13084230" cy="6288608"/>
          </a:xfrm>
          <a:custGeom>
            <a:avLst/>
            <a:gdLst/>
            <a:ahLst/>
            <a:cxnLst/>
            <a:rect r="r" b="b" t="t" l="l"/>
            <a:pathLst>
              <a:path h="6288608" w="13084230">
                <a:moveTo>
                  <a:pt x="0" y="0"/>
                </a:moveTo>
                <a:lnTo>
                  <a:pt x="13084230" y="0"/>
                </a:lnTo>
                <a:lnTo>
                  <a:pt x="13084230" y="6288608"/>
                </a:lnTo>
                <a:lnTo>
                  <a:pt x="0" y="62886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197" y="1179788"/>
            <a:ext cx="1045065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PRINCIPALES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6398" y="-1341028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7095" y="6856795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8" y="0"/>
                </a:lnTo>
                <a:lnTo>
                  <a:pt x="3075318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95460" y="2846663"/>
            <a:ext cx="13084230" cy="6157766"/>
          </a:xfrm>
          <a:custGeom>
            <a:avLst/>
            <a:gdLst/>
            <a:ahLst/>
            <a:cxnLst/>
            <a:rect r="r" b="b" t="t" l="l"/>
            <a:pathLst>
              <a:path h="6157766" w="13084230">
                <a:moveTo>
                  <a:pt x="0" y="0"/>
                </a:moveTo>
                <a:lnTo>
                  <a:pt x="13084230" y="0"/>
                </a:lnTo>
                <a:lnTo>
                  <a:pt x="13084230" y="6157766"/>
                </a:lnTo>
                <a:lnTo>
                  <a:pt x="0" y="61577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197" y="1179788"/>
            <a:ext cx="1045065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PRINCIPALES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6398" y="-1341028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7095" y="6856795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8" y="0"/>
                </a:lnTo>
                <a:lnTo>
                  <a:pt x="3075318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94810" y="2241882"/>
            <a:ext cx="13084230" cy="7016418"/>
          </a:xfrm>
          <a:custGeom>
            <a:avLst/>
            <a:gdLst/>
            <a:ahLst/>
            <a:cxnLst/>
            <a:rect r="r" b="b" t="t" l="l"/>
            <a:pathLst>
              <a:path h="7016418" w="13084230">
                <a:moveTo>
                  <a:pt x="0" y="0"/>
                </a:moveTo>
                <a:lnTo>
                  <a:pt x="13084230" y="0"/>
                </a:lnTo>
                <a:lnTo>
                  <a:pt x="13084230" y="7016418"/>
                </a:lnTo>
                <a:lnTo>
                  <a:pt x="0" y="70164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197" y="1179788"/>
            <a:ext cx="1045065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PRINCIPALES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6398" y="-1341028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7095" y="6856795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8" y="0"/>
                </a:lnTo>
                <a:lnTo>
                  <a:pt x="3075318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01885" y="1872442"/>
            <a:ext cx="13084230" cy="6542115"/>
          </a:xfrm>
          <a:custGeom>
            <a:avLst/>
            <a:gdLst/>
            <a:ahLst/>
            <a:cxnLst/>
            <a:rect r="r" b="b" t="t" l="l"/>
            <a:pathLst>
              <a:path h="6542115" w="13084230">
                <a:moveTo>
                  <a:pt x="0" y="0"/>
                </a:moveTo>
                <a:lnTo>
                  <a:pt x="13084230" y="0"/>
                </a:lnTo>
                <a:lnTo>
                  <a:pt x="13084230" y="6542116"/>
                </a:lnTo>
                <a:lnTo>
                  <a:pt x="0" y="6542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197" y="1179788"/>
            <a:ext cx="1045065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PRINCIPALES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6398" y="-1341028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7095" y="6856795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8" y="0"/>
                </a:lnTo>
                <a:lnTo>
                  <a:pt x="3075318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82864" y="2417948"/>
            <a:ext cx="13084230" cy="6656602"/>
          </a:xfrm>
          <a:custGeom>
            <a:avLst/>
            <a:gdLst/>
            <a:ahLst/>
            <a:cxnLst/>
            <a:rect r="r" b="b" t="t" l="l"/>
            <a:pathLst>
              <a:path h="6656602" w="13084230">
                <a:moveTo>
                  <a:pt x="0" y="0"/>
                </a:moveTo>
                <a:lnTo>
                  <a:pt x="13084231" y="0"/>
                </a:lnTo>
                <a:lnTo>
                  <a:pt x="13084231" y="6656603"/>
                </a:lnTo>
                <a:lnTo>
                  <a:pt x="0" y="66566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197" y="1179788"/>
            <a:ext cx="1045065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PRINCIPALES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66398" y="-1341028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67095" y="6856795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8" y="0"/>
                </a:lnTo>
                <a:lnTo>
                  <a:pt x="3075318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95460" y="2058132"/>
            <a:ext cx="13084230" cy="7016418"/>
          </a:xfrm>
          <a:custGeom>
            <a:avLst/>
            <a:gdLst/>
            <a:ahLst/>
            <a:cxnLst/>
            <a:rect r="r" b="b" t="t" l="l"/>
            <a:pathLst>
              <a:path h="7016418" w="13084230">
                <a:moveTo>
                  <a:pt x="0" y="0"/>
                </a:moveTo>
                <a:lnTo>
                  <a:pt x="13084230" y="0"/>
                </a:lnTo>
                <a:lnTo>
                  <a:pt x="13084230" y="7016419"/>
                </a:lnTo>
                <a:lnTo>
                  <a:pt x="0" y="701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14197" y="1179788"/>
            <a:ext cx="10450651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59"/>
              </a:lnSpc>
              <a:spcBef>
                <a:spcPct val="0"/>
              </a:spcBef>
            </a:pPr>
            <a:r>
              <a:rPr lang="en-US" sz="546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PRINCIPALES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37934" y="4029348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9" y="0"/>
                </a:lnTo>
                <a:lnTo>
                  <a:pt x="3075319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09907" y="2076067"/>
            <a:ext cx="13609461" cy="7426343"/>
          </a:xfrm>
          <a:custGeom>
            <a:avLst/>
            <a:gdLst/>
            <a:ahLst/>
            <a:cxnLst/>
            <a:rect r="r" b="b" t="t" l="l"/>
            <a:pathLst>
              <a:path h="7426343" w="13609461">
                <a:moveTo>
                  <a:pt x="0" y="0"/>
                </a:moveTo>
                <a:lnTo>
                  <a:pt x="13609461" y="0"/>
                </a:lnTo>
                <a:lnTo>
                  <a:pt x="13609461" y="7426343"/>
                </a:lnTo>
                <a:lnTo>
                  <a:pt x="0" y="74263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56240" y="578864"/>
            <a:ext cx="6787760" cy="960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b="true" sz="562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Caso uso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286157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510973" y="2731515"/>
            <a:ext cx="8457192" cy="303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TECNOLOGÍAS DEL DESARROLLO</a:t>
            </a:r>
          </a:p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73436" y="4319932"/>
            <a:ext cx="2932061" cy="1770958"/>
          </a:xfrm>
          <a:custGeom>
            <a:avLst/>
            <a:gdLst/>
            <a:ahLst/>
            <a:cxnLst/>
            <a:rect r="r" b="b" t="t" l="l"/>
            <a:pathLst>
              <a:path h="1770958" w="2932061">
                <a:moveTo>
                  <a:pt x="0" y="0"/>
                </a:moveTo>
                <a:lnTo>
                  <a:pt x="2932061" y="0"/>
                </a:lnTo>
                <a:lnTo>
                  <a:pt x="2932061" y="1770958"/>
                </a:lnTo>
                <a:lnTo>
                  <a:pt x="0" y="1770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037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5094" y="6245817"/>
            <a:ext cx="2836722" cy="1682601"/>
          </a:xfrm>
          <a:custGeom>
            <a:avLst/>
            <a:gdLst/>
            <a:ahLst/>
            <a:cxnLst/>
            <a:rect r="r" b="b" t="t" l="l"/>
            <a:pathLst>
              <a:path h="1682601" w="2836722">
                <a:moveTo>
                  <a:pt x="0" y="0"/>
                </a:moveTo>
                <a:lnTo>
                  <a:pt x="2836722" y="0"/>
                </a:lnTo>
                <a:lnTo>
                  <a:pt x="2836722" y="1682600"/>
                </a:lnTo>
                <a:lnTo>
                  <a:pt x="0" y="1682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634" t="0" r="-1099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5094" y="4287750"/>
            <a:ext cx="2836722" cy="1768650"/>
          </a:xfrm>
          <a:custGeom>
            <a:avLst/>
            <a:gdLst/>
            <a:ahLst/>
            <a:cxnLst/>
            <a:rect r="r" b="b" t="t" l="l"/>
            <a:pathLst>
              <a:path h="1768650" w="2836722">
                <a:moveTo>
                  <a:pt x="0" y="0"/>
                </a:moveTo>
                <a:lnTo>
                  <a:pt x="2836722" y="0"/>
                </a:lnTo>
                <a:lnTo>
                  <a:pt x="2836722" y="1768650"/>
                </a:lnTo>
                <a:lnTo>
                  <a:pt x="0" y="17686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237" r="-3360" b="-123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341911" y="4329052"/>
            <a:ext cx="2836722" cy="1727348"/>
          </a:xfrm>
          <a:custGeom>
            <a:avLst/>
            <a:gdLst/>
            <a:ahLst/>
            <a:cxnLst/>
            <a:rect r="r" b="b" t="t" l="l"/>
            <a:pathLst>
              <a:path h="1727348" w="2836722">
                <a:moveTo>
                  <a:pt x="0" y="0"/>
                </a:moveTo>
                <a:lnTo>
                  <a:pt x="2836721" y="0"/>
                </a:lnTo>
                <a:lnTo>
                  <a:pt x="2836721" y="1727348"/>
                </a:lnTo>
                <a:lnTo>
                  <a:pt x="0" y="17273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591" r="0" b="-189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5094" y="8235259"/>
            <a:ext cx="2836722" cy="1678582"/>
          </a:xfrm>
          <a:custGeom>
            <a:avLst/>
            <a:gdLst/>
            <a:ahLst/>
            <a:cxnLst/>
            <a:rect r="r" b="b" t="t" l="l"/>
            <a:pathLst>
              <a:path h="1678582" w="2836722">
                <a:moveTo>
                  <a:pt x="0" y="0"/>
                </a:moveTo>
                <a:lnTo>
                  <a:pt x="2836722" y="0"/>
                </a:lnTo>
                <a:lnTo>
                  <a:pt x="2836722" y="1678583"/>
                </a:lnTo>
                <a:lnTo>
                  <a:pt x="0" y="16785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274" t="0" r="-10274" b="-186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608089" y="4319932"/>
            <a:ext cx="2836722" cy="1770958"/>
          </a:xfrm>
          <a:custGeom>
            <a:avLst/>
            <a:gdLst/>
            <a:ahLst/>
            <a:cxnLst/>
            <a:rect r="r" b="b" t="t" l="l"/>
            <a:pathLst>
              <a:path h="1770958" w="2836722">
                <a:moveTo>
                  <a:pt x="0" y="0"/>
                </a:moveTo>
                <a:lnTo>
                  <a:pt x="2836722" y="0"/>
                </a:lnTo>
                <a:lnTo>
                  <a:pt x="2836722" y="1770958"/>
                </a:lnTo>
                <a:lnTo>
                  <a:pt x="0" y="1770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623" t="0" r="-562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251702" y="4329052"/>
            <a:ext cx="3007598" cy="1761839"/>
          </a:xfrm>
          <a:custGeom>
            <a:avLst/>
            <a:gdLst/>
            <a:ahLst/>
            <a:cxnLst/>
            <a:rect r="r" b="b" t="t" l="l"/>
            <a:pathLst>
              <a:path h="1761839" w="3007598">
                <a:moveTo>
                  <a:pt x="0" y="0"/>
                </a:moveTo>
                <a:lnTo>
                  <a:pt x="3007598" y="0"/>
                </a:lnTo>
                <a:lnTo>
                  <a:pt x="3007598" y="1761838"/>
                </a:lnTo>
                <a:lnTo>
                  <a:pt x="0" y="17618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854" t="0" r="-122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608089" y="7928417"/>
            <a:ext cx="2893978" cy="1682601"/>
          </a:xfrm>
          <a:custGeom>
            <a:avLst/>
            <a:gdLst/>
            <a:ahLst/>
            <a:cxnLst/>
            <a:rect r="r" b="b" t="t" l="l"/>
            <a:pathLst>
              <a:path h="1682601" w="2893978">
                <a:moveTo>
                  <a:pt x="0" y="0"/>
                </a:moveTo>
                <a:lnTo>
                  <a:pt x="2893979" y="0"/>
                </a:lnTo>
                <a:lnTo>
                  <a:pt x="2893979" y="1682601"/>
                </a:lnTo>
                <a:lnTo>
                  <a:pt x="0" y="1682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9553" r="0" b="-955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88168" y="43745"/>
            <a:ext cx="15911664" cy="2958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sz="562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b="true" sz="562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ecnologías y versiones utilizadas para el desarrollo de la pagina web Practicaspro</a:t>
            </a:r>
          </a:p>
          <a:p>
            <a:pPr algn="ctr">
              <a:lnSpc>
                <a:spcPts val="786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-1211084" y="3397279"/>
            <a:ext cx="6584418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</a:t>
            </a:r>
            <a:r>
              <a:rPr lang="en-US" b="true" sz="2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end &amp; Base de Datos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07555" y="3397279"/>
            <a:ext cx="3044547" cy="78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</a:t>
            </a:r>
            <a:r>
              <a:rPr lang="en-US" b="true" sz="2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eligencia Artificial</a:t>
            </a:r>
          </a:p>
          <a:p>
            <a:pPr algn="ctr">
              <a:lnSpc>
                <a:spcPts val="3220"/>
              </a:lnSpc>
            </a:pPr>
            <a:r>
              <a:rPr lang="en-US" b="true" sz="2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gemini-3.8-flash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68869" y="3397279"/>
            <a:ext cx="2491502" cy="38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Mapa interactivo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79471" y="3396690"/>
            <a:ext cx="316287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Pasa</a:t>
            </a:r>
            <a:r>
              <a:rPr lang="en-US" b="true" sz="2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 de Pagos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61441" y="3396690"/>
            <a:ext cx="289397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Estilos (front-end)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60542" y="7039492"/>
            <a:ext cx="680085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Rende</a:t>
            </a:r>
            <a:r>
              <a:rPr lang="en-US" b="true" sz="23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rizado de gráficos estadísticos en el Dashboard de Administrador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4994" y="6198192"/>
            <a:ext cx="1590318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Dj</a:t>
            </a:r>
            <a:r>
              <a:rPr lang="en-US" b="true" sz="23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ango 5.x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286157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294403" y="2731515"/>
            <a:ext cx="8457192" cy="105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37934" y="4029348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9" y="0"/>
                </a:lnTo>
                <a:lnTo>
                  <a:pt x="3075319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3522" y="1266637"/>
            <a:ext cx="14749397" cy="8600742"/>
          </a:xfrm>
          <a:custGeom>
            <a:avLst/>
            <a:gdLst/>
            <a:ahLst/>
            <a:cxnLst/>
            <a:rect r="r" b="b" t="t" l="l"/>
            <a:pathLst>
              <a:path h="8600742" w="14749397">
                <a:moveTo>
                  <a:pt x="0" y="0"/>
                </a:moveTo>
                <a:lnTo>
                  <a:pt x="14749397" y="0"/>
                </a:lnTo>
                <a:lnTo>
                  <a:pt x="14749397" y="8600742"/>
                </a:lnTo>
                <a:lnTo>
                  <a:pt x="0" y="86007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99017" y="-185358"/>
            <a:ext cx="683121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3890295"/>
            <a:chOff x="0" y="0"/>
            <a:chExt cx="5059561" cy="10246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024604"/>
            </a:xfrm>
            <a:custGeom>
              <a:avLst/>
              <a:gdLst/>
              <a:ahLst/>
              <a:cxnLst/>
              <a:rect r="r" b="b" t="t" l="l"/>
              <a:pathLst>
                <a:path h="1024604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024604"/>
                  </a:lnTo>
                  <a:lnTo>
                    <a:pt x="0" y="1024604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062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76264" y="527838"/>
            <a:ext cx="1280029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</a:t>
            </a:r>
            <a:r>
              <a:rPr lang="en-US" b="true" sz="9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imación de Riesgos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328108" y="3208372"/>
            <a:ext cx="2836722" cy="1727348"/>
          </a:xfrm>
          <a:custGeom>
            <a:avLst/>
            <a:gdLst/>
            <a:ahLst/>
            <a:cxnLst/>
            <a:rect r="r" b="b" t="t" l="l"/>
            <a:pathLst>
              <a:path h="1727348" w="2836722">
                <a:moveTo>
                  <a:pt x="0" y="0"/>
                </a:moveTo>
                <a:lnTo>
                  <a:pt x="2836722" y="0"/>
                </a:lnTo>
                <a:lnTo>
                  <a:pt x="2836722" y="1727348"/>
                </a:lnTo>
                <a:lnTo>
                  <a:pt x="0" y="1727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591" r="0" b="-189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160917" y="2280570"/>
            <a:ext cx="15489025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1. Riesgos Técnicos y de Inte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gración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Integración con Google Gemini: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Riesgo: Superar cuotas de uso o sufrir latencia en la API al revisar CVs.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Mitigación: Implementar caching de prompts comunes y respuestas en Django para no saturar la API externa.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286157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294403" y="2731515"/>
            <a:ext cx="8457192" cy="204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COSTOS DEL PROYECTO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37934" y="4029348"/>
            <a:ext cx="3075319" cy="3075319"/>
          </a:xfrm>
          <a:custGeom>
            <a:avLst/>
            <a:gdLst/>
            <a:ahLst/>
            <a:cxnLst/>
            <a:rect r="r" b="b" t="t" l="l"/>
            <a:pathLst>
              <a:path h="3075319" w="3075319">
                <a:moveTo>
                  <a:pt x="0" y="0"/>
                </a:moveTo>
                <a:lnTo>
                  <a:pt x="3075319" y="0"/>
                </a:lnTo>
                <a:lnTo>
                  <a:pt x="3075319" y="3075319"/>
                </a:lnTo>
                <a:lnTo>
                  <a:pt x="0" y="3075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-81617"/>
            <a:ext cx="16689941" cy="391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28"/>
              </a:lnSpc>
            </a:pPr>
            <a:r>
              <a:rPr lang="en-US" sz="744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Resume</a:t>
            </a:r>
            <a:r>
              <a:rPr lang="en-US" b="true" sz="744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 de Costos Estimados del Proyecto</a:t>
            </a:r>
          </a:p>
          <a:p>
            <a:pPr algn="ctr">
              <a:lnSpc>
                <a:spcPts val="10428"/>
              </a:lnSpc>
            </a:pPr>
          </a:p>
        </p:txBody>
      </p:sp>
      <p:sp>
        <p:nvSpPr>
          <p:cNvPr name="Freeform 11" id="11" descr="costos estimados.png"/>
          <p:cNvSpPr/>
          <p:nvPr/>
        </p:nvSpPr>
        <p:spPr>
          <a:xfrm flipH="false" flipV="false" rot="0">
            <a:off x="315053" y="3167017"/>
            <a:ext cx="11649433" cy="3952967"/>
          </a:xfrm>
          <a:custGeom>
            <a:avLst/>
            <a:gdLst/>
            <a:ahLst/>
            <a:cxnLst/>
            <a:rect r="r" b="b" t="t" l="l"/>
            <a:pathLst>
              <a:path h="3952967" w="11649433">
                <a:moveTo>
                  <a:pt x="0" y="0"/>
                </a:moveTo>
                <a:lnTo>
                  <a:pt x="11649433" y="0"/>
                </a:lnTo>
                <a:lnTo>
                  <a:pt x="11649433" y="3952966"/>
                </a:lnTo>
                <a:lnTo>
                  <a:pt x="0" y="39529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2" r="0" b="-1367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0640" y="-1543050"/>
            <a:ext cx="19210521" cy="4453378"/>
            <a:chOff x="0" y="0"/>
            <a:chExt cx="5059561" cy="11729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9561" cy="1172906"/>
            </a:xfrm>
            <a:custGeom>
              <a:avLst/>
              <a:gdLst/>
              <a:ahLst/>
              <a:cxnLst/>
              <a:rect r="r" b="b" t="t" l="l"/>
              <a:pathLst>
                <a:path h="1172906" w="5059561">
                  <a:moveTo>
                    <a:pt x="0" y="0"/>
                  </a:moveTo>
                  <a:lnTo>
                    <a:pt x="5059561" y="0"/>
                  </a:lnTo>
                  <a:lnTo>
                    <a:pt x="5059561" y="1172906"/>
                  </a:lnTo>
                  <a:lnTo>
                    <a:pt x="0" y="1172906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9561" cy="1211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04754" y="9074551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6"/>
                </a:lnTo>
                <a:lnTo>
                  <a:pt x="0" y="1715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63441" y="-390286"/>
            <a:ext cx="1715127" cy="1715127"/>
          </a:xfrm>
          <a:custGeom>
            <a:avLst/>
            <a:gdLst/>
            <a:ahLst/>
            <a:cxnLst/>
            <a:rect r="r" b="b" t="t" l="l"/>
            <a:pathLst>
              <a:path h="1715127" w="1715127">
                <a:moveTo>
                  <a:pt x="0" y="0"/>
                </a:moveTo>
                <a:lnTo>
                  <a:pt x="1715127" y="0"/>
                </a:lnTo>
                <a:lnTo>
                  <a:pt x="1715127" y="1715127"/>
                </a:lnTo>
                <a:lnTo>
                  <a:pt x="0" y="171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98071" y="-136788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991" y="9922935"/>
            <a:ext cx="2988937" cy="570615"/>
          </a:xfrm>
          <a:custGeom>
            <a:avLst/>
            <a:gdLst/>
            <a:ahLst/>
            <a:cxnLst/>
            <a:rect r="r" b="b" t="t" l="l"/>
            <a:pathLst>
              <a:path h="570615" w="2988937">
                <a:moveTo>
                  <a:pt x="0" y="0"/>
                </a:moveTo>
                <a:lnTo>
                  <a:pt x="2988938" y="0"/>
                </a:lnTo>
                <a:lnTo>
                  <a:pt x="2988938" y="570616"/>
                </a:lnTo>
                <a:lnTo>
                  <a:pt x="0" y="57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-81617"/>
            <a:ext cx="16689941" cy="391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28"/>
              </a:lnSpc>
            </a:pPr>
            <a:r>
              <a:rPr lang="en-US" sz="7448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Resume</a:t>
            </a:r>
            <a:r>
              <a:rPr lang="en-US" b="true" sz="744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 de Costos Estimados del Proyecto</a:t>
            </a:r>
          </a:p>
          <a:p>
            <a:pPr algn="ctr">
              <a:lnSpc>
                <a:spcPts val="10428"/>
              </a:lnSpc>
            </a:pPr>
          </a:p>
        </p:txBody>
      </p:sp>
      <p:sp>
        <p:nvSpPr>
          <p:cNvPr name="Freeform 10" id="10" descr="costo infraestroctura.png"/>
          <p:cNvSpPr/>
          <p:nvPr/>
        </p:nvSpPr>
        <p:spPr>
          <a:xfrm flipH="false" flipV="false" rot="0">
            <a:off x="288308" y="3027840"/>
            <a:ext cx="9719023" cy="5078334"/>
          </a:xfrm>
          <a:custGeom>
            <a:avLst/>
            <a:gdLst/>
            <a:ahLst/>
            <a:cxnLst/>
            <a:rect r="r" b="b" t="t" l="l"/>
            <a:pathLst>
              <a:path h="5078334" w="9719023">
                <a:moveTo>
                  <a:pt x="0" y="0"/>
                </a:moveTo>
                <a:lnTo>
                  <a:pt x="9719023" y="0"/>
                </a:lnTo>
                <a:lnTo>
                  <a:pt x="9719023" y="5078335"/>
                </a:lnTo>
                <a:lnTo>
                  <a:pt x="0" y="50783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652424" y="3385056"/>
            <a:ext cx="6152330" cy="568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4">
                <a:solidFill>
                  <a:srgbClr val="F9F8F8"/>
                </a:solidFill>
                <a:latin typeface="Open Sans"/>
                <a:ea typeface="Open Sans"/>
                <a:cs typeface="Open Sans"/>
                <a:sym typeface="Open Sans"/>
              </a:rPr>
              <a:t>3. Presupuesto Total Consolid</a:t>
            </a:r>
            <a:r>
              <a:rPr lang="en-US" sz="2504">
                <a:solidFill>
                  <a:srgbClr val="F9F8F8"/>
                </a:solidFill>
                <a:latin typeface="Open Sans"/>
                <a:ea typeface="Open Sans"/>
                <a:cs typeface="Open Sans"/>
                <a:sym typeface="Open Sans"/>
              </a:rPr>
              <a:t>ado del Proyecto</a:t>
            </a:r>
          </a:p>
          <a:p>
            <a:pPr algn="l" marL="540645" indent="-270322" lvl="1">
              <a:lnSpc>
                <a:spcPts val="3505"/>
              </a:lnSpc>
              <a:buFont typeface="Arial"/>
              <a:buChar char="•"/>
            </a:pPr>
            <a:r>
              <a:rPr lang="en-US" sz="2504">
                <a:solidFill>
                  <a:srgbClr val="F9F8F8"/>
                </a:solidFill>
                <a:latin typeface="Open Sans"/>
                <a:ea typeface="Open Sans"/>
                <a:cs typeface="Open Sans"/>
                <a:sym typeface="Open Sans"/>
              </a:rPr>
              <a:t>Costo Directo de Desarrollo (Mano de Obra): $5.500.000 CLP</a:t>
            </a:r>
          </a:p>
          <a:p>
            <a:pPr algn="l" marL="540645" indent="-270322" lvl="1">
              <a:lnSpc>
                <a:spcPts val="3505"/>
              </a:lnSpc>
              <a:buFont typeface="Arial"/>
              <a:buChar char="•"/>
            </a:pPr>
            <a:r>
              <a:rPr lang="en-US" sz="2504">
                <a:solidFill>
                  <a:srgbClr val="F9F8F8"/>
                </a:solidFill>
                <a:latin typeface="Open Sans"/>
                <a:ea typeface="Open Sans"/>
                <a:cs typeface="Open Sans"/>
                <a:sym typeface="Open Sans"/>
              </a:rPr>
              <a:t>Costo Fijo Mensual de Operación Cloud: $0 CLP (Uso de capas gratuitas)</a:t>
            </a:r>
          </a:p>
          <a:p>
            <a:pPr algn="l" marL="540645" indent="-270322" lvl="1">
              <a:lnSpc>
                <a:spcPts val="3505"/>
              </a:lnSpc>
              <a:buFont typeface="Arial"/>
              <a:buChar char="•"/>
            </a:pPr>
            <a:r>
              <a:rPr lang="en-US" sz="2504">
                <a:solidFill>
                  <a:srgbClr val="F9F8F8"/>
                </a:solidFill>
                <a:latin typeface="Open Sans"/>
                <a:ea typeface="Open Sans"/>
                <a:cs typeface="Open Sans"/>
                <a:sym typeface="Open Sans"/>
              </a:rPr>
              <a:t>Comisión Variable Pasarela: 3.19% + IVA por cada suscripción Premium vendida ($2.990 CLP).</a:t>
            </a:r>
          </a:p>
          <a:p>
            <a:pPr algn="l" marL="540645" indent="-270322" lvl="1">
              <a:lnSpc>
                <a:spcPts val="3505"/>
              </a:lnSpc>
              <a:buFont typeface="Arial"/>
              <a:buChar char="•"/>
            </a:pPr>
            <a:r>
              <a:rPr lang="en-US" sz="2504">
                <a:solidFill>
                  <a:srgbClr val="F9F8F8"/>
                </a:solidFill>
                <a:latin typeface="Open Sans"/>
                <a:ea typeface="Open Sans"/>
                <a:cs typeface="Open Sans"/>
                <a:sym typeface="Open Sans"/>
              </a:rPr>
              <a:t>COSTO TOTAL ESTIMADO DE PROYECTO: $5.500.000 CLP</a:t>
            </a:r>
          </a:p>
          <a:p>
            <a:pPr algn="l">
              <a:lnSpc>
                <a:spcPts val="3505"/>
              </a:lnSpc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524384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51240" y="8626286"/>
            <a:ext cx="1736760" cy="1611426"/>
          </a:xfrm>
          <a:custGeom>
            <a:avLst/>
            <a:gdLst/>
            <a:ahLst/>
            <a:cxnLst/>
            <a:rect r="r" b="b" t="t" l="l"/>
            <a:pathLst>
              <a:path h="1611426" w="1736760">
                <a:moveTo>
                  <a:pt x="0" y="0"/>
                </a:moveTo>
                <a:lnTo>
                  <a:pt x="1736760" y="0"/>
                </a:lnTo>
                <a:lnTo>
                  <a:pt x="1736760" y="1611426"/>
                </a:lnTo>
                <a:lnTo>
                  <a:pt x="0" y="1611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362388" y="2513010"/>
            <a:ext cx="8457192" cy="204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DEMO DE LA PAGINA WEB 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83520" y="1590911"/>
            <a:ext cx="2651835" cy="2651835"/>
          </a:xfrm>
          <a:custGeom>
            <a:avLst/>
            <a:gdLst/>
            <a:ahLst/>
            <a:cxnLst/>
            <a:rect r="r" b="b" t="t" l="l"/>
            <a:pathLst>
              <a:path h="2651835" w="2651835">
                <a:moveTo>
                  <a:pt x="0" y="0"/>
                </a:moveTo>
                <a:lnTo>
                  <a:pt x="2651835" y="0"/>
                </a:lnTo>
                <a:lnTo>
                  <a:pt x="2651835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637321" y="2636321"/>
            <a:ext cx="7650679" cy="7650679"/>
            <a:chOff x="0" y="0"/>
            <a:chExt cx="3331210" cy="3331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0" y="3331210"/>
                  </a:lnTo>
                  <a:cubicBezTo>
                    <a:pt x="0" y="149098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85722" y="3831262"/>
            <a:ext cx="10821834" cy="131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53"/>
              </a:lnSpc>
              <a:spcBef>
                <a:spcPct val="0"/>
              </a:spcBef>
            </a:pPr>
            <a:r>
              <a:rPr lang="en-US" sz="812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GRACIAS A TODOS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789475" y="-570381"/>
            <a:ext cx="2651835" cy="2651835"/>
          </a:xfrm>
          <a:custGeom>
            <a:avLst/>
            <a:gdLst/>
            <a:ahLst/>
            <a:cxnLst/>
            <a:rect r="r" b="b" t="t" l="l"/>
            <a:pathLst>
              <a:path h="2651835" w="2651835">
                <a:moveTo>
                  <a:pt x="0" y="0"/>
                </a:moveTo>
                <a:lnTo>
                  <a:pt x="2651836" y="0"/>
                </a:lnTo>
                <a:lnTo>
                  <a:pt x="2651836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DAHYDNVsNz0</dc:identifier>
  <dcterms:modified xsi:type="dcterms:W3CDTF">2011-08-01T06:04:30Z</dcterms:modified>
  <cp:revision>1</cp:revision>
  <dc:title>Capstone Fase 2</dc:title>
</cp:coreProperties>
</file>