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jEHBF1KUAUzfr4PTQqM6BtSYyz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7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6.xml"/><Relationship Id="rId32" Type="http://schemas.openxmlformats.org/officeDocument/2006/relationships/font" Target="fonts/Lato-boldItalic.fntdata"/><Relationship Id="rId13" Type="http://schemas.openxmlformats.org/officeDocument/2006/relationships/slide" Target="slides/slide9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8.xml"/><Relationship Id="rId34" Type="http://schemas.openxmlformats.org/officeDocument/2006/relationships/font" Target="fonts/RobotoMono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96d2c5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796d2c5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27419067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274190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27419067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a2741906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27419067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a2741906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27419067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a27419067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27419067_2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a27419067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796d2c52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796d2c5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a27419067_0_41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fa27419067_0_41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g3fa27419067_0_41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fa27419067_0_41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fa27419067_0_41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fa27419067_0_41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fa27419067_0_41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g3fa27419067_0_41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g3fa27419067_0_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fa27419067_0_5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g3fa27419067_0_5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fa27419067_0_5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fa27419067_0_5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fa27419067_0_5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fa27419067_0_5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g3fa27419067_0_5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fa27419067_0_5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fa27419067_0_5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fa27419067_0_5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g3fa27419067_0_5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fa27419067_0_5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fa27419067_0_5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fa27419067_0_5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fa27419067_0_5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a27419067_0_5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fa27419067_0_5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fa27419067_0_5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fa27419067_0_5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g3fa27419067_0_51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g3fa27419067_0_5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g3fa27419067_0_73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g3fa27419067_0_7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fa27419067_0_7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fa27419067_0_73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g3fa27419067_0_73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g3fa27419067_0_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fa27419067_0_80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g3fa27419067_0_8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fa27419067_0_8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fa27419067_0_80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g3fa27419067_0_80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fa27419067_0_80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g3fa27419067_0_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fa27419067_0_88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g3fa27419067_0_8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fa27419067_0_8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g3fa27419067_0_88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g3fa27419067_0_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fa27419067_0_9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g3fa27419067_0_9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fa27419067_0_9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fa27419067_0_94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g3fa27419067_0_94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g3fa27419067_0_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fa27419067_0_101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g3fa27419067_0_10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fa27419067_0_10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fa27419067_0_10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fa27419067_0_10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fa27419067_0_10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fa27419067_0_10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fa27419067_0_10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fa27419067_0_10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fa27419067_0_10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fa27419067_0_10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3fa27419067_0_10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fa27419067_0_10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fa27419067_0_10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fa27419067_0_10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fa27419067_0_10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fa27419067_0_10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fa27419067_0_10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fa27419067_0_10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g3fa27419067_0_101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g3fa27419067_0_1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fa27419067_0_123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g3fa27419067_0_12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fa27419067_0_12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fa27419067_0_123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g3fa27419067_0_123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g3fa27419067_0_123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g3fa27419067_0_1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fa27419067_0_131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g3fa27419067_0_13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fa27419067_0_131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fa27419067_0_131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g3fa27419067_0_1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fa27419067_0_137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g3fa27419067_0_13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fa27419067_0_13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fa27419067_0_13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fa27419067_0_13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fa27419067_0_13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fa27419067_0_13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fa27419067_0_13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fa27419067_0_13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fa27419067_0_13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fa27419067_0_13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fa27419067_0_13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fa27419067_0_13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fa27419067_0_13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fa27419067_0_13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fa27419067_0_13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fa27419067_0_13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fa27419067_0_13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fa27419067_0_13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g3fa27419067_0_137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g3fa27419067_0_137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g3fa27419067_0_1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27419067_0_16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a27419067_0_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fa27419067_0_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fa27419067_0_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1524000" y="1173479"/>
            <a:ext cx="9144000" cy="18030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Capstone</a:t>
            </a:r>
            <a:br>
              <a:rPr lang="es-CL"/>
            </a:br>
            <a:r>
              <a:rPr lang="es-CL" sz="3200"/>
              <a:t>“</a:t>
            </a:r>
            <a:r>
              <a:rPr i="1" lang="es-CL" sz="2200"/>
              <a:t>Plataforma de Vinculación de Prácticas para Estudiantes Duoc UC (“PracticasPro”)</a:t>
            </a:r>
            <a:r>
              <a:rPr lang="es-CL" sz="3200"/>
              <a:t>”</a:t>
            </a:r>
            <a:endParaRPr/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1524000" y="3279654"/>
            <a:ext cx="9144000" cy="2404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[Puente Alto]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Docente Instructor de la Asignatura: Fabian Enrique Saldaño Perez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Integrantes del Equipo: Catalina Zarate, Tomas Pozo, Nicolas Pozo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796d2c528_0_0"/>
          <p:cNvSpPr txBox="1"/>
          <p:nvPr>
            <p:ph type="ctrTitle"/>
          </p:nvPr>
        </p:nvSpPr>
        <p:spPr>
          <a:xfrm>
            <a:off x="3731825" y="8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CL"/>
              <a:t>TABLA DE CONTENIDOS</a:t>
            </a:r>
            <a:endParaRPr/>
          </a:p>
        </p:txBody>
      </p:sp>
      <p:sp>
        <p:nvSpPr>
          <p:cNvPr id="141" name="Google Shape;141;g3f796d2c528_0_0"/>
          <p:cNvSpPr txBox="1"/>
          <p:nvPr>
            <p:ph idx="1" type="subTitle"/>
          </p:nvPr>
        </p:nvSpPr>
        <p:spPr>
          <a:xfrm>
            <a:off x="4722225" y="2105100"/>
            <a:ext cx="55134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1.-</a:t>
            </a: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Contexto y Problemática</a:t>
            </a:r>
            <a:br>
              <a:rPr b="1" lang="es-CL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2.-Propuesta de Solución y Objetivos</a:t>
            </a:r>
            <a:br>
              <a:rPr b="1" lang="es-CL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3.-Alcances y Restricciones del Proyecto</a:t>
            </a:r>
            <a:br>
              <a:rPr b="1" lang="es-CL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4.-Especificación de Requerimientos</a:t>
            </a:r>
            <a:br>
              <a:rPr b="1" lang="es-CL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5.-Diseño de Ingeniería del Sistema</a:t>
            </a:r>
            <a:br>
              <a:rPr b="1" lang="es-CL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6.-Stack Tecnológico y Responsabilidades</a:t>
            </a:r>
            <a:br>
              <a:rPr b="1" lang="es-CL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7.-Planificación, Riesgos y Costos</a:t>
            </a:r>
            <a:br>
              <a:rPr b="1" lang="es-CL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8.-Conclusiones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>
            <p:ph type="title"/>
          </p:nvPr>
        </p:nvSpPr>
        <p:spPr>
          <a:xfrm>
            <a:off x="725659" y="11107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Problemática a Resolver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866250" y="2436275"/>
            <a:ext cx="90591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Actualmente, los estudiantes de Duoc UC enfrentan una notable asimetría y dispersión al buscar sus prácticas laborales o profesionales. Las plataformas de empleo tradicionales no responden a las necesidades académicas e institucionales específicas, carecen de filtros por carrera o sede, y provocan una pérdida de tiempo tanto en los alumnos como en las empresas, que reciben postulantes incompatibles. Ante la falta de una herramienta centralizada y geolocalizada que facilite la vinculación efectiva y permita ampliar el radio de búsqueda de manera estructurada, surge la necesidad de desarrollar una solución digital especializada para la comunidad de Duoc UC.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/>
        </p:nvSpPr>
        <p:spPr>
          <a:xfrm>
            <a:off x="634450" y="2038125"/>
            <a:ext cx="4654800" cy="25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>
                <a:solidFill>
                  <a:schemeClr val="lt1"/>
                </a:solidFill>
              </a:rPr>
              <a:t>Plataforma digital especializada (Web y Móvil) diseñada para conectar de manera directa y eficiente a estudiantes de Duoc UC que requieren realizar su práctica laboral o profesional con empresas que disponen de vacantes validadas.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lt1"/>
                </a:solidFill>
              </a:rPr>
              <a:t>Acceso exclusivo para la comunidad estudiantil mediante autenticación con correo institucional (</a:t>
            </a:r>
            <a:r>
              <a:rPr lang="es-CL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@duocuc.cl</a:t>
            </a:r>
            <a:r>
              <a:rPr lang="es-CL">
                <a:solidFill>
                  <a:schemeClr val="lt1"/>
                </a:solidFill>
              </a:rPr>
              <a:t>), garantizando perfiles académicos fidedignos y actualizados.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6253125" y="1086750"/>
            <a:ext cx="5368500" cy="4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lt1"/>
                </a:solidFill>
              </a:rPr>
              <a:t>Para el Estudiante:</a:t>
            </a:r>
            <a:endParaRPr b="1"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Búsqueda centralizada con filtros exactos por carrera, sede y tipo de práctica (Laboral vs. Profesional).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Visualización interactiva georreferenciada en mapa.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Modelo </a:t>
            </a:r>
            <a:r>
              <a:rPr i="1" lang="es-CL" sz="1200">
                <a:solidFill>
                  <a:schemeClr val="lt1"/>
                </a:solidFill>
              </a:rPr>
              <a:t>Freemium</a:t>
            </a:r>
            <a:r>
              <a:rPr lang="es-CL" sz="1200">
                <a:solidFill>
                  <a:schemeClr val="lt1"/>
                </a:solidFill>
              </a:rPr>
              <a:t>: Acceso gratuito a ofertas en su comuna de origen (ej. Puente Alto) y opción de </a:t>
            </a:r>
            <a:r>
              <a:rPr b="1" lang="es-CL" sz="1200">
                <a:solidFill>
                  <a:schemeClr val="lt1"/>
                </a:solidFill>
              </a:rPr>
              <a:t>Suscripción Premium mensual</a:t>
            </a:r>
            <a:r>
              <a:rPr lang="es-CL" sz="1200">
                <a:solidFill>
                  <a:schemeClr val="lt1"/>
                </a:solidFill>
              </a:rPr>
              <a:t> para ampliar el radio de búsqueda a toda la Región Metropolitana.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Trazabilidad completa del estado de postulación y sistema de reputación/evaluación de empresas.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200">
                <a:solidFill>
                  <a:schemeClr val="lt1"/>
                </a:solidFill>
              </a:rPr>
              <a:t>Para la Empresa:</a:t>
            </a:r>
            <a:endParaRPr b="1"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Reducción drástica de postulaciones no compatibles mediante un motor de calce automático según requisitos técnicos y académicos.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Canal directo de gestión de candidatos y retroalimentación post-práctica.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27419067_0_7"/>
          <p:cNvSpPr txBox="1"/>
          <p:nvPr/>
        </p:nvSpPr>
        <p:spPr>
          <a:xfrm>
            <a:off x="336450" y="1903950"/>
            <a:ext cx="40548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General:</a:t>
            </a:r>
            <a:r>
              <a:rPr b="1" lang="es-CL" sz="1500">
                <a:solidFill>
                  <a:schemeClr val="lt1"/>
                </a:solidFill>
              </a:rPr>
              <a:t>Desarrollar</a:t>
            </a:r>
            <a:r>
              <a:rPr lang="es-CL" sz="1500">
                <a:solidFill>
                  <a:schemeClr val="lt1"/>
                </a:solidFill>
              </a:rPr>
              <a:t> una plataforma digital especializada que facilite la vinculación entre estudiantes de Duoc UC y empresas oferentes de prácticas laborales o profesionales, integrando herramientas de búsqueda geolocalizada, filtrado por pertinencia académica y un sistema de suscripción recurrente para ampliación de cobertura territorial. 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a27419067_0_7"/>
          <p:cNvSpPr txBox="1"/>
          <p:nvPr/>
        </p:nvSpPr>
        <p:spPr>
          <a:xfrm>
            <a:off x="5911800" y="1903950"/>
            <a:ext cx="6020100" cy="4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Especificos Clave: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Diseñar</a:t>
            </a:r>
            <a:r>
              <a:rPr lang="es-CL" sz="1500">
                <a:solidFill>
                  <a:schemeClr val="lt1"/>
                </a:solidFill>
              </a:rPr>
              <a:t> e </a:t>
            </a:r>
            <a:r>
              <a:rPr b="1" lang="es-CL" sz="1500">
                <a:solidFill>
                  <a:schemeClr val="lt1"/>
                </a:solidFill>
              </a:rPr>
              <a:t>implementar</a:t>
            </a:r>
            <a:r>
              <a:rPr lang="es-CL" sz="1500">
                <a:solidFill>
                  <a:schemeClr val="lt1"/>
                </a:solidFill>
              </a:rPr>
              <a:t> un sistema de autenticación seguro basado en credenciales institucionales de Duoc UC.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Construir</a:t>
            </a:r>
            <a:r>
              <a:rPr lang="es-CL" sz="1500">
                <a:solidFill>
                  <a:schemeClr val="lt1"/>
                </a:solidFill>
              </a:rPr>
              <a:t> perfiles académicos y empresariales diferenciados con gestión de ofertas y requerimientos específicos.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Integrar</a:t>
            </a:r>
            <a:r>
              <a:rPr lang="es-CL" sz="1500">
                <a:solidFill>
                  <a:schemeClr val="lt1"/>
                </a:solidFill>
              </a:rPr>
              <a:t> servicios de geolocalización y mapas para la visualización territorial de vacantes según la comuna del alumno.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Implementar</a:t>
            </a:r>
            <a:r>
              <a:rPr lang="es-CL" sz="1500">
                <a:solidFill>
                  <a:schemeClr val="lt1"/>
                </a:solidFill>
              </a:rPr>
              <a:t> una pasarela de pago con cobro recurrente automatizado (tokenización segura) para la gestión de suscripciones premium.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lt1"/>
                </a:solidFill>
              </a:rPr>
              <a:t>Desarrollar</a:t>
            </a:r>
            <a:r>
              <a:rPr lang="es-CL" sz="1500">
                <a:solidFill>
                  <a:schemeClr val="lt1"/>
                </a:solidFill>
              </a:rPr>
              <a:t> un panel administrativo para la supervisión global de usuarios, publicaciones y métricas transaccionales.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a27419067_0_7"/>
          <p:cNvSpPr txBox="1"/>
          <p:nvPr/>
        </p:nvSpPr>
        <p:spPr>
          <a:xfrm>
            <a:off x="3085950" y="952300"/>
            <a:ext cx="60201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SE DESARROLLO COMO PROYECTO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810065" y="80944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(bien detallado, no dejar ningun detalle fuera de la explicacion)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491575" y="2311800"/>
            <a:ext cx="3144600" cy="22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Autenticación y Perfilamiento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Búsqueda Inteligente y Geolocalización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Modelo Freemium y Suscripción Premium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Trazabilidad y Reputación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Panel Administrativo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4049875" y="2203900"/>
            <a:ext cx="3506700" cy="27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no hace: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tramita convenios legales ni seguros institucionales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almacena datos bancarios ni de tarjetas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evalúa ni califica el desempeño académico curricular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garantiza contratación ni cupo o</a:t>
            </a:r>
            <a:r>
              <a:rPr b="1" lang="es-CL" sz="1100">
                <a:solidFill>
                  <a:schemeClr val="lt1"/>
                </a:solidFill>
              </a:rPr>
              <a:t>bligatorio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opera fuera de la Región Metropolitana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7970275" y="2203900"/>
            <a:ext cx="3568500" cy="22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Restricción de Acceso y Comunidad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Restricción Geográfica Operativa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Dependencia de Integraciones de Terceros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Compatibilidad de Plataforma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Normativa de Privacidad de Datos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type="title"/>
          </p:nvPr>
        </p:nvSpPr>
        <p:spPr>
          <a:xfrm>
            <a:off x="506136" y="749643"/>
            <a:ext cx="10515600" cy="759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357173" y="1620884"/>
            <a:ext cx="3785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Requerimientos Funcionales 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0" y="2087509"/>
            <a:ext cx="8239125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fa27419067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50" y="1238475"/>
            <a:ext cx="10892325" cy="35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27419067_0_27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Listado de requerimientos no funcionales</a:t>
            </a:r>
            <a:endParaRPr/>
          </a:p>
        </p:txBody>
      </p:sp>
      <p:pic>
        <p:nvPicPr>
          <p:cNvPr id="186" name="Google Shape;186;g3fa27419067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63" y="1770825"/>
            <a:ext cx="11000876" cy="25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>
            <p:ph type="title"/>
          </p:nvPr>
        </p:nvSpPr>
        <p:spPr>
          <a:xfrm>
            <a:off x="1323952" y="168611"/>
            <a:ext cx="105156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1820451" y="898509"/>
            <a:ext cx="28914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39900" y="1500525"/>
            <a:ext cx="4727100" cy="26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1. USUARIO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Almacena las credenciales de acceso y centraliza los tipos de roles de la plataforma.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id_usuario</a:t>
            </a:r>
            <a:r>
              <a:rPr lang="es-CL" sz="1100">
                <a:solidFill>
                  <a:schemeClr val="lt1"/>
                </a:solidFill>
              </a:rPr>
              <a:t> (PK, INT / UUID): Identificador único del usuario.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email</a:t>
            </a:r>
            <a:r>
              <a:rPr lang="es-CL" sz="1100">
                <a:solidFill>
                  <a:schemeClr val="lt1"/>
                </a:solidFill>
              </a:rPr>
              <a:t> (VARCHAR, UNIQUE): Correo institucional (@duocuc.cl) o correo corporativo de empresa.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password_hash</a:t>
            </a:r>
            <a:r>
              <a:rPr lang="es-CL" sz="1100">
                <a:solidFill>
                  <a:schemeClr val="lt1"/>
                </a:solidFill>
              </a:rPr>
              <a:t> (VARCHAR): Hash seguro de la contraseña (bcrypt/Argon2).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rol</a:t>
            </a:r>
            <a:r>
              <a:rPr lang="es-CL" sz="1100">
                <a:solidFill>
                  <a:schemeClr val="lt1"/>
                </a:solidFill>
              </a:rPr>
              <a:t> (VARCHAR): Tipo de rol (ESTUDIANTE, EMPRESA, ADMIN).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fecha_registro</a:t>
            </a:r>
            <a:r>
              <a:rPr lang="es-CL" sz="1100">
                <a:solidFill>
                  <a:schemeClr val="lt1"/>
                </a:solidFill>
              </a:rPr>
              <a:t> (TIMESTAMP): Fecha y hora de creación de la cuenta.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activo</a:t>
            </a:r>
            <a:r>
              <a:rPr lang="es-CL" sz="1100">
                <a:solidFill>
                  <a:schemeClr val="lt1"/>
                </a:solidFill>
              </a:rPr>
              <a:t> (BOOLEAN): Estado de habilitación de la cuenta.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5798000" y="1614300"/>
            <a:ext cx="5451300" cy="21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2. ESTUDIANTE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Datos de perfil académico, ubicación base y estado curricular del alumno de Duoc UC.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id_estudiante</a:t>
            </a:r>
            <a:r>
              <a:rPr lang="es-CL" sz="1100">
                <a:solidFill>
                  <a:schemeClr val="lt1"/>
                </a:solidFill>
              </a:rPr>
              <a:t> (PK, INT / UUID): Identificador único del estudiante.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id_usuario</a:t>
            </a:r>
            <a:r>
              <a:rPr lang="es-CL" sz="1100">
                <a:solidFill>
                  <a:schemeClr val="lt1"/>
                </a:solidFill>
              </a:rPr>
              <a:t> (FK → USUARIO.id_usuario): Vínculo con la cuenta base.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nombres</a:t>
            </a:r>
            <a:r>
              <a:rPr lang="es-CL" sz="1100">
                <a:solidFill>
                  <a:schemeClr val="lt1"/>
                </a:solidFill>
              </a:rPr>
              <a:t> (VARCHAR): Nombre(s) del alumno.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apellidos</a:t>
            </a:r>
            <a:r>
              <a:rPr lang="es-CL" sz="1100">
                <a:solidFill>
                  <a:schemeClr val="lt1"/>
                </a:solidFill>
              </a:rPr>
              <a:t> (VARCHAR): Apellidos del alumno.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carrera</a:t>
            </a:r>
            <a:r>
              <a:rPr lang="es-CL" sz="1100">
                <a:solidFill>
                  <a:schemeClr val="lt1"/>
                </a:solidFill>
              </a:rPr>
              <a:t> (VARCHAR): Carrera cursada (ej. </a:t>
            </a:r>
            <a:r>
              <a:rPr i="1" lang="es-CL" sz="1100">
                <a:solidFill>
                  <a:schemeClr val="lt1"/>
                </a:solidFill>
              </a:rPr>
              <a:t>Ingeniería en Informática</a:t>
            </a:r>
            <a:r>
              <a:rPr lang="es-CL" sz="1100">
                <a:solidFill>
                  <a:schemeClr val="lt1"/>
                </a:solidFill>
              </a:rPr>
              <a:t>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sede</a:t>
            </a:r>
            <a:r>
              <a:rPr lang="es-CL" sz="1100">
                <a:solidFill>
                  <a:schemeClr val="lt1"/>
                </a:solidFill>
              </a:rPr>
              <a:t> (VARCHAR): Sede institucional de origen (ej. </a:t>
            </a:r>
            <a:r>
              <a:rPr i="1" lang="es-CL" sz="1100">
                <a:solidFill>
                  <a:schemeClr val="lt1"/>
                </a:solidFill>
              </a:rPr>
              <a:t>Puente Alto</a:t>
            </a:r>
            <a:r>
              <a:rPr lang="es-CL" sz="1100">
                <a:solidFill>
                  <a:schemeClr val="lt1"/>
                </a:solidFill>
              </a:rPr>
              <a:t>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etapa_academica</a:t>
            </a:r>
            <a:r>
              <a:rPr lang="es-CL" sz="1100">
                <a:solidFill>
                  <a:schemeClr val="lt1"/>
                </a:solidFill>
              </a:rPr>
              <a:t> (VARCHAR): Año o semestre académico en curso.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tipo_practica_pendiente</a:t>
            </a:r>
            <a:r>
              <a:rPr lang="es-CL" sz="1100">
                <a:solidFill>
                  <a:schemeClr val="lt1"/>
                </a:solidFill>
              </a:rPr>
              <a:t> (VARCHAR): LABORAL o PROFESIONAL.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comuna_origen</a:t>
            </a:r>
            <a:r>
              <a:rPr lang="es-CL" sz="1100">
                <a:solidFill>
                  <a:schemeClr val="lt1"/>
                </a:solidFill>
              </a:rPr>
              <a:t> (VARCHAR): Comuna asignada para el radio de búsqueda gratuito inicial (ej. </a:t>
            </a:r>
            <a:r>
              <a:rPr i="1" lang="es-CL" sz="1100">
                <a:solidFill>
                  <a:schemeClr val="lt1"/>
                </a:solidFill>
              </a:rPr>
              <a:t>Puente Alto</a:t>
            </a:r>
            <a:r>
              <a:rPr lang="es-CL" sz="1100">
                <a:solidFill>
                  <a:schemeClr val="lt1"/>
                </a:solidFill>
              </a:rPr>
              <a:t>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descripcion_perfil</a:t>
            </a:r>
            <a:r>
              <a:rPr lang="es-CL" sz="1100">
                <a:solidFill>
                  <a:schemeClr val="lt1"/>
                </a:solidFill>
              </a:rPr>
              <a:t> (TEXT): Resumen profesional o biografía breve.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url_cv</a:t>
            </a:r>
            <a:r>
              <a:rPr lang="es-CL" sz="1100">
                <a:solidFill>
                  <a:schemeClr val="lt1"/>
                </a:solidFill>
              </a:rPr>
              <a:t> (VARCHAR): Enlace al currículum en PDF u objeto de almacenamiento.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27419067_2_16"/>
          <p:cNvSpPr txBox="1"/>
          <p:nvPr/>
        </p:nvSpPr>
        <p:spPr>
          <a:xfrm>
            <a:off x="853625" y="1852200"/>
            <a:ext cx="4654800" cy="30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3. EMPRESA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Datos de las organizaciones que publican vacantes de práctica.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id_empresa</a:t>
            </a:r>
            <a:r>
              <a:rPr lang="es-CL" sz="1100">
                <a:solidFill>
                  <a:schemeClr val="lt1"/>
                </a:solidFill>
              </a:rPr>
              <a:t> (PK, INT / UUID): Identificador único de la empresa.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id_usuario</a:t>
            </a:r>
            <a:r>
              <a:rPr lang="es-CL" sz="1100">
                <a:solidFill>
                  <a:schemeClr val="lt1"/>
                </a:solidFill>
              </a:rPr>
              <a:t> (FK → USUARIO.id_usuario): Vínculo con el usuario de reclutamiento.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rut_empresa</a:t>
            </a:r>
            <a:r>
              <a:rPr lang="es-CL" sz="1100">
                <a:solidFill>
                  <a:schemeClr val="lt1"/>
                </a:solidFill>
              </a:rPr>
              <a:t> (VARCHAR, UNIQUE): Identificador tributario de la empresa.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razon_social</a:t>
            </a:r>
            <a:r>
              <a:rPr lang="es-CL" sz="1100">
                <a:solidFill>
                  <a:schemeClr val="lt1"/>
                </a:solidFill>
              </a:rPr>
              <a:t> (VARCHAR): Nombre legal o comercial.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rubro</a:t>
            </a:r>
            <a:r>
              <a:rPr lang="es-CL" sz="1100">
                <a:solidFill>
                  <a:schemeClr val="lt1"/>
                </a:solidFill>
              </a:rPr>
              <a:t> (VARCHAR): Área o sector industrial (ej. Tecnología, Logística, Retail).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direccion</a:t>
            </a:r>
            <a:r>
              <a:rPr lang="es-CL" sz="1100">
                <a:solidFill>
                  <a:schemeClr val="lt1"/>
                </a:solidFill>
              </a:rPr>
              <a:t> (VARCHAR): Dirección corporativa de la sede u oficina.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telefono_contacto</a:t>
            </a:r>
            <a:r>
              <a:rPr lang="es-CL" sz="1100">
                <a:solidFill>
                  <a:schemeClr val="lt1"/>
                </a:solidFill>
              </a:rPr>
              <a:t> (VARCHAR): Teléfono de RRHH.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g3fa27419067_2_16"/>
          <p:cNvSpPr txBox="1"/>
          <p:nvPr/>
        </p:nvSpPr>
        <p:spPr>
          <a:xfrm>
            <a:off x="5725575" y="1148825"/>
            <a:ext cx="54411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4. OFERTA_PRACTICA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Publicaciones de cupos disponibles con sus condiciones académicas y geográficas.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id_oferta</a:t>
            </a:r>
            <a:r>
              <a:rPr lang="es-CL" sz="1100">
                <a:solidFill>
                  <a:schemeClr val="lt1"/>
                </a:solidFill>
              </a:rPr>
              <a:t> (PK, INT / UUID): Identificador único de la publicación.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id_empresa</a:t>
            </a:r>
            <a:r>
              <a:rPr lang="es-CL" sz="1100">
                <a:solidFill>
                  <a:schemeClr val="lt1"/>
                </a:solidFill>
              </a:rPr>
              <a:t> (FK → EMPRESA.id_empresa): Empresa responsable de la oferta.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titulo_oferta</a:t>
            </a:r>
            <a:r>
              <a:rPr lang="es-CL" sz="1100">
                <a:solidFill>
                  <a:schemeClr val="lt1"/>
                </a:solidFill>
              </a:rPr>
              <a:t> (VARCHAR): Título del puesto (ej. </a:t>
            </a:r>
            <a:r>
              <a:rPr i="1" lang="es-CL" sz="1100">
                <a:solidFill>
                  <a:schemeClr val="lt1"/>
                </a:solidFill>
              </a:rPr>
              <a:t>Práctica Profesional Desarrollo Web</a:t>
            </a:r>
            <a:r>
              <a:rPr lang="es-CL" sz="1100">
                <a:solidFill>
                  <a:schemeClr val="lt1"/>
                </a:solidFill>
              </a:rPr>
              <a:t>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descripcion</a:t>
            </a:r>
            <a:r>
              <a:rPr lang="es-CL" sz="1100">
                <a:solidFill>
                  <a:schemeClr val="lt1"/>
                </a:solidFill>
              </a:rPr>
              <a:t> (TEXT): Alcance de tareas y objetivos formativos del puesto.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tipo_practica</a:t>
            </a:r>
            <a:r>
              <a:rPr lang="es-CL" sz="1100">
                <a:solidFill>
                  <a:schemeClr val="lt1"/>
                </a:solidFill>
              </a:rPr>
              <a:t> (VARCHAR): Requisito de práctica (LABORAL o PROFESIONAL).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carrera_requerida</a:t>
            </a:r>
            <a:r>
              <a:rPr lang="es-CL" sz="1100">
                <a:solidFill>
                  <a:schemeClr val="lt1"/>
                </a:solidFill>
              </a:rPr>
              <a:t> (VARCHAR): Carrera afín solicitada (ej. </a:t>
            </a:r>
            <a:r>
              <a:rPr i="1" lang="es-CL" sz="1100">
                <a:solidFill>
                  <a:schemeClr val="lt1"/>
                </a:solidFill>
              </a:rPr>
              <a:t>Ingeniería en Informática</a:t>
            </a:r>
            <a:r>
              <a:rPr lang="es-CL" sz="1100">
                <a:solidFill>
                  <a:schemeClr val="lt1"/>
                </a:solidFill>
              </a:rPr>
              <a:t>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comuna</a:t>
            </a:r>
            <a:r>
              <a:rPr lang="es-CL" sz="1100">
                <a:solidFill>
                  <a:schemeClr val="lt1"/>
                </a:solidFill>
              </a:rPr>
              <a:t> (VARCHAR): Comuna donde se realiza la práctica presencial o híbrida.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latitud</a:t>
            </a:r>
            <a:r>
              <a:rPr lang="es-CL" sz="1100">
                <a:solidFill>
                  <a:schemeClr val="lt1"/>
                </a:solidFill>
              </a:rPr>
              <a:t> (DECIMAL(10,8)): Coordenada para visualización en el mapa interactivo.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longitud</a:t>
            </a:r>
            <a:r>
              <a:rPr lang="es-CL" sz="1100">
                <a:solidFill>
                  <a:schemeClr val="lt1"/>
                </a:solidFill>
              </a:rPr>
              <a:t> (DECIMAL(11,8)): Coordenada para visualización en el mapa interactivo.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cupos_disponibles</a:t>
            </a:r>
            <a:r>
              <a:rPr lang="es-CL" sz="1100">
                <a:solidFill>
                  <a:schemeClr val="lt1"/>
                </a:solidFill>
              </a:rPr>
              <a:t> (INT): Cantidad total de vacantes abiertas.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estado_oferta</a:t>
            </a:r>
            <a:r>
              <a:rPr lang="es-CL" sz="1100">
                <a:solidFill>
                  <a:schemeClr val="lt1"/>
                </a:solidFill>
              </a:rPr>
              <a:t> (VARCHAR): DISPONIBLE, CERRADA, EN_PROCESO.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fecha_publicacion</a:t>
            </a:r>
            <a:r>
              <a:rPr lang="es-CL" sz="1100">
                <a:solidFill>
                  <a:schemeClr val="lt1"/>
                </a:solidFill>
              </a:rPr>
              <a:t> (TIMESTAMP): Fecha en que se habilitó la oferta.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a27419067_2_25"/>
          <p:cNvSpPr txBox="1"/>
          <p:nvPr/>
        </p:nvSpPr>
        <p:spPr>
          <a:xfrm>
            <a:off x="326050" y="2090100"/>
            <a:ext cx="56169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5. POSTULACION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Registra el vínculo entre un estudiante y una oferta específica, gestionando la trazabilidad del proceso.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id_postulacion</a:t>
            </a:r>
            <a:r>
              <a:rPr lang="es-CL" sz="1100">
                <a:solidFill>
                  <a:schemeClr val="lt1"/>
                </a:solidFill>
              </a:rPr>
              <a:t> (PK, INT / UUID): Identificador único de la postulación.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id_estudiante</a:t>
            </a:r>
            <a:r>
              <a:rPr lang="es-CL" sz="1100">
                <a:solidFill>
                  <a:schemeClr val="lt1"/>
                </a:solidFill>
              </a:rPr>
              <a:t> (FK → ESTUDIANTE.id_estudiante): Alumno postulante.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id_oferta</a:t>
            </a:r>
            <a:r>
              <a:rPr lang="es-CL" sz="1100">
                <a:solidFill>
                  <a:schemeClr val="lt1"/>
                </a:solidFill>
              </a:rPr>
              <a:t> (FK → OFERTA_PRACTICA.id_oferta): Oferta a la que postula.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fecha_postulacion</a:t>
            </a:r>
            <a:r>
              <a:rPr lang="es-CL" sz="1100">
                <a:solidFill>
                  <a:schemeClr val="lt1"/>
                </a:solidFill>
              </a:rPr>
              <a:t> (TIMESTAMP): Fecha y hora del envío.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estado</a:t>
            </a:r>
            <a:r>
              <a:rPr lang="es-CL" sz="1100">
                <a:solidFill>
                  <a:schemeClr val="lt1"/>
                </a:solidFill>
              </a:rPr>
              <a:t> (VARCHAR): ENVIADA, EN_REVISION, ACEPTADA, RECHAZADA.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observaciones</a:t>
            </a:r>
            <a:r>
              <a:rPr lang="es-CL" sz="1100">
                <a:solidFill>
                  <a:schemeClr val="lt1"/>
                </a:solidFill>
              </a:rPr>
              <a:t> (TEXT): Retroalimentación de la empresa o notas de seguimiento.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g3fa27419067_2_25"/>
          <p:cNvSpPr txBox="1"/>
          <p:nvPr/>
        </p:nvSpPr>
        <p:spPr>
          <a:xfrm>
            <a:off x="6863425" y="1903925"/>
            <a:ext cx="4427100" cy="27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6. SUSCRIPCION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Gestiona el estado del servicio premium de ampliación geográfica en la Región Metropolitana y el período de prueba gratuita.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id_suscripcion</a:t>
            </a:r>
            <a:r>
              <a:rPr lang="es-CL" sz="1100">
                <a:solidFill>
                  <a:schemeClr val="lt1"/>
                </a:solidFill>
              </a:rPr>
              <a:t> (PK, INT / UUID): Identificador de la suscripción.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id_estudiante</a:t>
            </a:r>
            <a:r>
              <a:rPr lang="es-CL" sz="1100">
                <a:solidFill>
                  <a:schemeClr val="lt1"/>
                </a:solidFill>
              </a:rPr>
              <a:t> (FK → ESTUDIANTE.id_estudiante): Alumno titular del servicio.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customer_token</a:t>
            </a:r>
            <a:r>
              <a:rPr lang="es-CL" sz="1100">
                <a:solidFill>
                  <a:schemeClr val="lt1"/>
                </a:solidFill>
              </a:rPr>
              <a:t> (VARCHAR): Token identificador del cliente en la pasarela externa (Stripe/Webpay) sin almacenar datos de tarjeta.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estado_suscripcion</a:t>
            </a:r>
            <a:r>
              <a:rPr lang="es-CL" sz="1100">
                <a:solidFill>
                  <a:schemeClr val="lt1"/>
                </a:solidFill>
              </a:rPr>
              <a:t> (VARCHAR): PRUEBA_GRATIS, ACTIVA, CANCELADA, MOROSA.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fecha_inicio_prueba</a:t>
            </a:r>
            <a:r>
              <a:rPr lang="es-CL" sz="1100">
                <a:solidFill>
                  <a:schemeClr val="lt1"/>
                </a:solidFill>
              </a:rPr>
              <a:t> (TIMESTAMP): Inicio del período gratuito.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fecha_fin_prueba</a:t>
            </a:r>
            <a:r>
              <a:rPr lang="es-CL" sz="1100">
                <a:solidFill>
                  <a:schemeClr val="lt1"/>
                </a:solidFill>
              </a:rPr>
              <a:t> (TIMESTAMP): Fin de la prueba gratuita y fecha del primer cobro.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fecha_renovacion</a:t>
            </a:r>
            <a:r>
              <a:rPr lang="es-CL" sz="1100">
                <a:solidFill>
                  <a:schemeClr val="lt1"/>
                </a:solidFill>
              </a:rPr>
              <a:t> (DATE): Próxima fecha estipulada para el cobro mensual recurrente.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/>
          <p:nvPr>
            <p:ph type="title"/>
          </p:nvPr>
        </p:nvSpPr>
        <p:spPr>
          <a:xfrm>
            <a:off x="641252" y="951625"/>
            <a:ext cx="10515600" cy="92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pic>
        <p:nvPicPr>
          <p:cNvPr id="212" name="Google Shape;21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26921"/>
            <a:ext cx="4276725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525" y="2026921"/>
            <a:ext cx="41338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67775" y="2026921"/>
            <a:ext cx="3171825" cy="378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/>
          <p:nvPr>
            <p:ph type="title"/>
          </p:nvPr>
        </p:nvSpPr>
        <p:spPr>
          <a:xfrm>
            <a:off x="1292927" y="251336"/>
            <a:ext cx="105156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1613576" y="1012859"/>
            <a:ext cx="58083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Diagramas de Actividades Principales principal de sistema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31" y="1648030"/>
            <a:ext cx="5208550" cy="475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946" y="1582070"/>
            <a:ext cx="5344925" cy="45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>
            <p:ph type="title"/>
          </p:nvPr>
        </p:nvSpPr>
        <p:spPr>
          <a:xfrm>
            <a:off x="1510151" y="447875"/>
            <a:ext cx="716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672275" y="1535527"/>
            <a:ext cx="5261100" cy="5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Móvil (Flutter v3 / React Native):</a:t>
            </a:r>
            <a:r>
              <a:rPr lang="es-CL" sz="1500">
                <a:solidFill>
                  <a:schemeClr val="lt1"/>
                </a:solidFill>
              </a:rPr>
              <a:t> Aplicación multiplataforma (Android/iOS) para búsqueda en mapa, postulación y notificaciones push de los estudiantes.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Backend (Node.js v20 / Express):</a:t>
            </a:r>
            <a:r>
              <a:rPr lang="es-CL" sz="1500">
                <a:solidFill>
                  <a:schemeClr val="lt1"/>
                </a:solidFill>
              </a:rPr>
              <a:t> API RESTful centralizada encargada de la lógica de negocio, reglas de compatibilidad y comunicación entre plataformas.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Base de Datos (PostgreSQL v16):</a:t>
            </a:r>
            <a:r>
              <a:rPr lang="es-CL" sz="1500">
                <a:solidFill>
                  <a:schemeClr val="lt1"/>
                </a:solidFill>
              </a:rPr>
              <a:t> Base de datos relacional para la persistencia segura de usuarios, publicaciones, contratos de suscripción e historial transaccional.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Integraciones y Servicios: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s-CL" sz="1500">
                <a:solidFill>
                  <a:schemeClr val="lt1"/>
                </a:solidFill>
              </a:rPr>
              <a:t>Stripe API / Webpay:</a:t>
            </a:r>
            <a:r>
              <a:rPr lang="es-CL" sz="1500">
                <a:solidFill>
                  <a:schemeClr val="lt1"/>
                </a:solidFill>
              </a:rPr>
              <a:t> Pasarela de pago segura para suscripciones mensuales y cobros recurrentes vía tokenización.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s-CL" sz="1500">
                <a:solidFill>
                  <a:schemeClr val="lt1"/>
                </a:solidFill>
              </a:rPr>
              <a:t>Google Maps API:</a:t>
            </a:r>
            <a:r>
              <a:rPr lang="es-CL" sz="1500">
                <a:solidFill>
                  <a:schemeClr val="lt1"/>
                </a:solidFill>
              </a:rPr>
              <a:t> Georreferenciación y visualización interactiva de ofertas de práctica.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325" y="796950"/>
            <a:ext cx="2683301" cy="150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57850" y="2669380"/>
            <a:ext cx="1956624" cy="11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1875" y="2545225"/>
            <a:ext cx="2078875" cy="15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87180" y="4541600"/>
            <a:ext cx="2404075" cy="100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5775" y="4261675"/>
            <a:ext cx="3349005" cy="1751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 txBox="1"/>
          <p:nvPr>
            <p:ph type="title"/>
          </p:nvPr>
        </p:nvSpPr>
        <p:spPr>
          <a:xfrm>
            <a:off x="767649" y="150829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Responsabilidades</a:t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425" y="1682448"/>
            <a:ext cx="5480100" cy="40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/>
          <p:nvPr>
            <p:ph type="title"/>
          </p:nvPr>
        </p:nvSpPr>
        <p:spPr>
          <a:xfrm>
            <a:off x="791475" y="78725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Estimación de Riesgos</a:t>
            </a:r>
            <a:endParaRPr/>
          </a:p>
        </p:txBody>
      </p:sp>
      <p:pic>
        <p:nvPicPr>
          <p:cNvPr id="246" name="Google Shape;24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3208" y="1761250"/>
            <a:ext cx="5360042" cy="45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id="252" name="Google Shape;25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80712"/>
            <a:ext cx="1137285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/>
          <p:nvPr>
            <p:ph type="title"/>
          </p:nvPr>
        </p:nvSpPr>
        <p:spPr>
          <a:xfrm>
            <a:off x="838194" y="29932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 (resumido, lo mas cercano a la realidad)</a:t>
            </a:r>
            <a:endParaRPr/>
          </a:p>
        </p:txBody>
      </p:sp>
      <p:pic>
        <p:nvPicPr>
          <p:cNvPr id="258" name="Google Shape;2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5725" y="2139322"/>
            <a:ext cx="4117650" cy="30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3550" y="1625022"/>
            <a:ext cx="4329200" cy="48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796d2c528_0_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/>
              <a:t>Conclusiones</a:t>
            </a:r>
            <a:endParaRPr/>
          </a:p>
        </p:txBody>
      </p:sp>
      <p:sp>
        <p:nvSpPr>
          <p:cNvPr id="265" name="Google Shape;265;g3f796d2c528_0_5"/>
          <p:cNvSpPr txBox="1"/>
          <p:nvPr/>
        </p:nvSpPr>
        <p:spPr>
          <a:xfrm>
            <a:off x="1598375" y="2079775"/>
            <a:ext cx="93852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</a:rPr>
              <a:t>El desarrollo de </a:t>
            </a:r>
            <a:r>
              <a:rPr b="1" lang="es-CL" sz="2000">
                <a:solidFill>
                  <a:schemeClr val="lt1"/>
                </a:solidFill>
              </a:rPr>
              <a:t>PracticasPro</a:t>
            </a:r>
            <a:r>
              <a:rPr lang="es-CL" sz="2000">
                <a:solidFill>
                  <a:schemeClr val="lt1"/>
                </a:solidFill>
              </a:rPr>
              <a:t> representa una solución integral, viable e innovadora a la problemática de inserción laboral temprana en Duoc UC. Al centralizar la oferta académica, incorporar compatibilidad automatizada de perfiles y ofrecer un modelo escalable de suscripciones con geolocalización, el proyecto no solo optimiza la vinculación entre estudiantes y empresas en la Región Metropolitana, sino que consolida la aplicación práctica de arquitecturas modernas de software e integración de servicios externos.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